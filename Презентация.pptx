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59" r:id="rId4"/>
    <p:sldId id="265" r:id="rId5"/>
    <p:sldId id="262" r:id="rId6"/>
    <p:sldId id="266" r:id="rId7"/>
    <p:sldId id="263" r:id="rId8"/>
    <p:sldId id="264" r:id="rId9"/>
    <p:sldId id="257" r:id="rId10"/>
    <p:sldId id="273" r:id="rId11"/>
    <p:sldId id="268" r:id="rId12"/>
    <p:sldId id="269" r:id="rId13"/>
    <p:sldId id="270" r:id="rId14"/>
    <p:sldId id="271" r:id="rId15"/>
    <p:sldId id="260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E287F0EC-81B6-44FE-B5FF-D720F3E2419F}">
          <p14:sldIdLst>
            <p14:sldId id="256"/>
            <p14:sldId id="272"/>
            <p14:sldId id="259"/>
            <p14:sldId id="265"/>
            <p14:sldId id="262"/>
            <p14:sldId id="266"/>
            <p14:sldId id="263"/>
            <p14:sldId id="264"/>
            <p14:sldId id="257"/>
            <p14:sldId id="273"/>
            <p14:sldId id="268"/>
            <p14:sldId id="269"/>
            <p14:sldId id="270"/>
            <p14:sldId id="271"/>
            <p14:sldId id="26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2877"/>
    <a:srgbClr val="E6BD91"/>
    <a:srgbClr val="E9BF21"/>
    <a:srgbClr val="C57110"/>
    <a:srgbClr val="FDCC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E3FDE45-AF77-4B5C-9715-49D594BDF05E}" styleName="Светлый стиль 1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27102A9-8310-4765-A935-A1911B00CA55}" styleName="Светлый стиль 1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184" y="456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7FBACB-9F50-4441-8ED3-B716FC3C33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0027" y="1975371"/>
            <a:ext cx="7683587" cy="1655762"/>
          </a:xfrm>
          <a:noFill/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5108AA0-6708-4354-A113-6D77F977DB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0027" y="3631133"/>
            <a:ext cx="7683587" cy="1655762"/>
          </a:xfrm>
          <a:noFill/>
        </p:spPr>
        <p:txBody>
          <a:bodyPr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F6A399-C931-4A0A-AE5C-DFFF48161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737880-2EBA-47EC-9021-3B75E1707F8E}" type="datetimeFigureOut">
              <a:rPr lang="ru-RU" smtClean="0"/>
              <a:pPr/>
              <a:t>10.06.2026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B0B664-33BA-4E10-9711-E8824D108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C1616C-5913-4F6F-BC7E-042278A59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D65DC0-92EF-44A8-B885-50DCCD99F6D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3B8BBF3-8DDC-415E-8A9F-4A821681F77C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0187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79A4B2-21C9-443B-A34A-C86938744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566" y="75539"/>
            <a:ext cx="10728434" cy="1325563"/>
          </a:xfrm>
          <a:noFill/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6FF47A-51C3-4D57-AF90-8F3AF244B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5834" y="1954924"/>
            <a:ext cx="10443342" cy="4401426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FD23E0-3191-4599-BD5E-12527F2CA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737880-2EBA-47EC-9021-3B75E1707F8E}" type="datetimeFigureOut">
              <a:rPr lang="ru-RU" smtClean="0"/>
              <a:pPr/>
              <a:t>10.06.2026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A6F514-F402-4139-96B4-CC85A617F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885B40-89D2-42AB-B0A3-0D1632E58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D65DC0-92EF-44A8-B885-50DCCD99F6D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40C9D58-B66F-4283-A5DF-78695E7B4DF8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799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96FD23E0-3191-4599-BD5E-12527F2CA3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116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737880-2EBA-47EC-9021-3B75E1707F8E}" type="datetimeFigureOut">
              <a:rPr lang="ru-RU" smtClean="0"/>
              <a:pPr/>
              <a:t>10.06.2026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A6F514-F402-4139-96B4-CC85A617F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9516" y="6356350"/>
            <a:ext cx="41148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885B40-89D2-42AB-B0A3-0D1632E58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972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D65DC0-92EF-44A8-B885-50DCCD99F6D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40C9D58-B66F-4283-A5DF-78695E7B4DF8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7D183F3B-3A92-4236-9C76-EA695DC56F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622311" y="1867663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E134F98D-E894-44DB-A17F-CE5EEF13317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2622310" y="2557750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0" name="Полилиния: фигура 9">
            <a:extLst>
              <a:ext uri="{FF2B5EF4-FFF2-40B4-BE49-F238E27FC236}">
                <a16:creationId xmlns:a16="http://schemas.microsoft.com/office/drawing/2014/main" id="{85569958-0FF5-4BFB-BBE8-25A41BF9E8B9}"/>
              </a:ext>
            </a:extLst>
          </p:cNvPr>
          <p:cNvSpPr/>
          <p:nvPr userDrawn="1"/>
        </p:nvSpPr>
        <p:spPr>
          <a:xfrm>
            <a:off x="2129423" y="1965830"/>
            <a:ext cx="358815" cy="358815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accent6"/>
              </a:solidFill>
            </a:endParaRPr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1FE47FD2-6DAE-46C6-8AE3-1705CAEB5733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2607521" y="3442938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28EC56F2-0C89-4A53-827A-1312C603D0DB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2607520" y="4133025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4DD4FCBF-1484-471E-A8F4-FB57BBD4C643}"/>
              </a:ext>
            </a:extLst>
          </p:cNvPr>
          <p:cNvSpPr/>
          <p:nvPr userDrawn="1"/>
        </p:nvSpPr>
        <p:spPr>
          <a:xfrm>
            <a:off x="2129423" y="3541105"/>
            <a:ext cx="358815" cy="358815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accent5"/>
              </a:solidFill>
            </a:endParaRP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CFA3BAFF-7DE8-48A4-B2B0-B0085957F76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2599161" y="4958049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C0E22CB0-862D-49A8-B966-5F34D0022F3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2599160" y="5648136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6" name="Полилиния: фигура 15">
            <a:extLst>
              <a:ext uri="{FF2B5EF4-FFF2-40B4-BE49-F238E27FC236}">
                <a16:creationId xmlns:a16="http://schemas.microsoft.com/office/drawing/2014/main" id="{EAD0C562-F40F-4023-815B-144925507E09}"/>
              </a:ext>
            </a:extLst>
          </p:cNvPr>
          <p:cNvSpPr/>
          <p:nvPr userDrawn="1"/>
        </p:nvSpPr>
        <p:spPr>
          <a:xfrm>
            <a:off x="2129423" y="5116380"/>
            <a:ext cx="358815" cy="358815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accent2"/>
              </a:solidFill>
            </a:endParaRP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87C75E79-9A1E-485E-8F3A-BE16134F1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566" y="75539"/>
            <a:ext cx="10728434" cy="1325563"/>
          </a:xfrm>
          <a:noFill/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76389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9994AA-8E37-49B9-B7FD-70C9EDB55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29D3217-5679-4BD5-9137-936BBEF04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241DAA-6DAD-4AF1-92A7-80EA5983C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F71DA9-CB59-43B2-BC65-168CA6DB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9DDAF3-236F-45E6-8A32-CAB15B0A4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703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4B75CB-2D4D-4ACD-8C8D-4C2BAD7AA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C3ABA4-A807-4474-9B99-B3F3035634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74E14E-F711-4893-A702-1E439BB60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B79428-64FD-4048-868A-AF62FE780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F435336-5740-41F7-8C21-58393F7EF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67A9915-F2A9-4940-AD5E-18633F23D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95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847F47-3388-4C54-86ED-1F5AC9D5F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EB5753-50F0-4209-B123-25FADDB51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91554F4-56DF-4692-B17F-B6D705D23C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58255A-938B-4F58-BD82-7E759AF997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ED02AF3-9A33-42E0-932E-996CE9841E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B9055FB-1844-4EFC-AC3D-D0C069AC9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BDFBD12-6B72-40B5-B7A4-8BC668BFC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E826D7F-C774-4B3E-99F7-4A3F9D1C8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46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C5C167-DA4C-4DE7-8E6D-1438E673F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52AE09E-C067-4546-AABC-AF31901DA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7C63C74-25D6-413A-BF81-1BAC312C6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AF3BE6B-3F7C-44CA-89A7-39FB44B54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2362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A83ACF7-0141-4CD0-9C08-29BFD52A1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3707B24-6D1E-4250-9F7C-B50DC6C2E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281886-4B75-4555-843A-A14D28200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4267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F95817-5E1D-4B28-9BB8-1CAFD7471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FD6170-D32F-4D5E-A219-CE4EBE45F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D4CA122-ADD3-4BC3-94B6-FEFC10D36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6168CA4-CE35-4686-88C8-3BF6B0A00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DCE16E-2FA2-448D-8001-A9876F2F3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ED05DFA-02F3-40C2-9B8E-C5302CCB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522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E7D842-145D-49C7-ADFC-42DF1DFF8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FB3922E-7741-4059-A65F-490977F4A9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E61D1DD-C329-4C28-A753-5AFEBACE8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0E647DB-F800-4A7B-BA76-B05E52D80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856E5D4-6B17-4DAF-B284-FD912646A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CBD4B6B-30B6-4D67-8DD1-6CF5FC1A0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0770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9C92BF-2752-4004-8342-065C4B601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7F91964-3980-49C8-B3A8-283781FC7B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4790CE-5C53-47FC-8413-F89AF1759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9849BC-BAD9-4C0D-A675-70D978BF9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665C67-270E-4DBC-8E4C-B0ED31CC0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4749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B325CD4-7AAE-4D3B-B241-E41035B258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582F875-B04A-4E1A-8512-8C8F94B2E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DD487A-1FC2-44CE-9930-7C7DED14F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F2E820-E78E-4484-B653-D69D1C9CE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CA4D89-658F-4150-961E-B5A3F7054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918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presentation-creation.ru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601465-D77B-4859-93D3-B80CB67F4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FBDCF8-67DD-4258-A5FF-10C5CC11E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B82C6C-6CC4-4A72-A1A8-ED44642F44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737880-2EBA-47EC-9021-3B75E1707F8E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087DCD-1CDE-49BB-AA51-F818D36116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ED8D0A-4ACE-4D47-88F3-AD2E99ACE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4"/>
            <a:extLst>
              <a:ext uri="{FF2B5EF4-FFF2-40B4-BE49-F238E27FC236}">
                <a16:creationId xmlns:a16="http://schemas.microsoft.com/office/drawing/2014/main" id="{D3913BE6-3DBC-4A10-9146-D759F3AFA3C8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758584" y="-1519762"/>
            <a:ext cx="757762" cy="757762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016054F-29B0-4A14-91DF-2DFA564505B0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rgbClr val="E6E6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744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jpg"/><Relationship Id="rId4" Type="http://schemas.openxmlformats.org/officeDocument/2006/relationships/image" Target="../media/image2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svg"/><Relationship Id="rId4" Type="http://schemas.openxmlformats.org/officeDocument/2006/relationships/image" Target="../media/image37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C9727D-B158-40CE-A1E3-961ADD9329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7176" y="1226685"/>
            <a:ext cx="10757647" cy="1655762"/>
          </a:xfrm>
        </p:spPr>
        <p:txBody>
          <a:bodyPr>
            <a:normAutofit fontScale="90000"/>
          </a:bodyPr>
          <a:lstStyle/>
          <a:p>
            <a:r>
              <a:rPr lang="ru-RU" dirty="0"/>
              <a:t>Вероятностное прогнозирование </a:t>
            </a:r>
            <a:br>
              <a:rPr lang="en-US" dirty="0"/>
            </a:br>
            <a:r>
              <a:rPr lang="ru-RU" dirty="0"/>
              <a:t>в домене поп-культуры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BBC206C-05FE-4771-B1BE-F8ADCB4B06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1635" y="4616873"/>
            <a:ext cx="7683587" cy="1655762"/>
          </a:xfrm>
        </p:spPr>
        <p:txBody>
          <a:bodyPr>
            <a:normAutofit lnSpcReduction="10000"/>
          </a:bodyPr>
          <a:lstStyle/>
          <a:p>
            <a:pPr algn="l"/>
            <a:r>
              <a:rPr lang="ru-RU" dirty="0"/>
              <a:t>Участники проекта:</a:t>
            </a:r>
          </a:p>
          <a:p>
            <a:pPr algn="l"/>
            <a:r>
              <a:rPr lang="ru-RU" dirty="0"/>
              <a:t>Гусев Богдан,</a:t>
            </a:r>
          </a:p>
          <a:p>
            <a:pPr algn="l"/>
            <a:r>
              <a:rPr lang="ru-RU" dirty="0"/>
              <a:t>Коблова Ксения,</a:t>
            </a:r>
          </a:p>
          <a:p>
            <a:pPr algn="l"/>
            <a:r>
              <a:rPr lang="ru-RU" dirty="0"/>
              <a:t>Черненко Михаил</a:t>
            </a: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21E8D4B7-32BD-13A3-0713-43EB5495D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7277" y="3183184"/>
            <a:ext cx="3674724" cy="3674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378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7FF2244F-DB56-B2AB-04CA-D9B932903AAC}"/>
              </a:ext>
            </a:extLst>
          </p:cNvPr>
          <p:cNvSpPr/>
          <p:nvPr/>
        </p:nvSpPr>
        <p:spPr>
          <a:xfrm>
            <a:off x="601846" y="735608"/>
            <a:ext cx="9005662" cy="430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350" dirty="0">
                <a:solidFill>
                  <a:schemeClr val="accent1"/>
                </a:solidFill>
                <a:latin typeface="Times New Roman" panose="02020603050405020304" pitchFamily="18" charset="0"/>
                <a:ea typeface="Spectral SemiBold" pitchFamily="34" charset="-122"/>
                <a:cs typeface="Times New Roman" panose="02020603050405020304" pitchFamily="18" charset="0"/>
              </a:rPr>
              <a:t>Почему был выбран домен поп-культуры</a:t>
            </a:r>
            <a:endParaRPr lang="en-US" sz="335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9DFD0AEC-2475-7028-8C55-A4BD7989A96E}"/>
              </a:ext>
            </a:extLst>
          </p:cNvPr>
          <p:cNvSpPr/>
          <p:nvPr/>
        </p:nvSpPr>
        <p:spPr>
          <a:xfrm>
            <a:off x="601846" y="1509514"/>
            <a:ext cx="10988003" cy="343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Выбор домена поп-культуры для вероятностного прогнозирования обусловлен несколькими ключевыми факторами, делающими его идеальной тестовой площадкой для нашей методологии.</a:t>
            </a:r>
            <a:endParaRPr lang="en-US" sz="140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9851E4CB-411D-7C08-E70C-FCF3551CC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846" y="2046883"/>
            <a:ext cx="3662668" cy="687884"/>
          </a:xfrm>
          <a:prstGeom prst="rect">
            <a:avLst/>
          </a:prstGeom>
          <a:ln>
            <a:noFill/>
          </a:ln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55A9BC87-79A8-A560-473D-6F809E047B0D}"/>
              </a:ext>
            </a:extLst>
          </p:cNvPr>
          <p:cNvSpPr/>
          <p:nvPr/>
        </p:nvSpPr>
        <p:spPr>
          <a:xfrm>
            <a:off x="773788" y="2906713"/>
            <a:ext cx="2913684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Рыночная неэффективность</a:t>
            </a:r>
            <a:endParaRPr lang="en-US" sz="165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827AEF07-DCD5-7086-846F-CFB1D13DE6BB}"/>
              </a:ext>
            </a:extLst>
          </p:cNvPr>
          <p:cNvSpPr/>
          <p:nvPr/>
        </p:nvSpPr>
        <p:spPr>
          <a:xfrm>
            <a:off x="773788" y="3224907"/>
            <a:ext cx="3318784" cy="68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Относительно высокая неэффективность по сравнению с финансовыми или политическими рынками снижает барьеры для точного прогнозирования.</a:t>
            </a:r>
            <a:endParaRPr lang="en-US" sz="1350" dirty="0"/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E4BA0AB8-2A20-F80F-9D33-743207412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4514" y="2046883"/>
            <a:ext cx="3662668" cy="687884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10" name="Text 4">
            <a:extLst>
              <a:ext uri="{FF2B5EF4-FFF2-40B4-BE49-F238E27FC236}">
                <a16:creationId xmlns:a16="http://schemas.microsoft.com/office/drawing/2014/main" id="{D3D56C9F-78D6-6AC9-A89C-8C52C83F6AB4}"/>
              </a:ext>
            </a:extLst>
          </p:cNvPr>
          <p:cNvSpPr/>
          <p:nvPr/>
        </p:nvSpPr>
        <p:spPr>
          <a:xfrm>
            <a:off x="4436455" y="2906713"/>
            <a:ext cx="2670604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Достаточная ликвидность</a:t>
            </a:r>
            <a:endParaRPr lang="en-US" sz="165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69DE7326-3D50-6A4D-64F5-B3CF23A8884B}"/>
              </a:ext>
            </a:extLst>
          </p:cNvPr>
          <p:cNvSpPr/>
          <p:nvPr/>
        </p:nvSpPr>
        <p:spPr>
          <a:xfrm>
            <a:off x="4436455" y="3224907"/>
            <a:ext cx="3318784" cy="68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Наличие достаточного объема реальных, разрешенных </a:t>
            </a:r>
            <a:r>
              <a:rPr lang="en-US" sz="1350" dirty="0" err="1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рыночных</a:t>
            </a:r>
            <a:r>
              <a:rPr lang="en-US" sz="135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350" dirty="0" err="1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событий</a:t>
            </a:r>
            <a:r>
              <a:rPr lang="en-US" sz="135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для обучения и валидации моделей.</a:t>
            </a:r>
            <a:endParaRPr lang="en-US" sz="1350" dirty="0"/>
          </a:p>
        </p:txBody>
      </p:sp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FAB001FC-2910-BC1A-680F-E9D49B630C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7181" y="2046883"/>
            <a:ext cx="3662668" cy="687884"/>
          </a:xfrm>
          <a:prstGeom prst="rect">
            <a:avLst/>
          </a:prstGeom>
        </p:spPr>
      </p:pic>
      <p:sp>
        <p:nvSpPr>
          <p:cNvPr id="13" name="Text 6">
            <a:extLst>
              <a:ext uri="{FF2B5EF4-FFF2-40B4-BE49-F238E27FC236}">
                <a16:creationId xmlns:a16="http://schemas.microsoft.com/office/drawing/2014/main" id="{1F0EBBD3-7CB9-9F1D-252E-A9B6D6517B3A}"/>
              </a:ext>
            </a:extLst>
          </p:cNvPr>
          <p:cNvSpPr/>
          <p:nvPr/>
        </p:nvSpPr>
        <p:spPr>
          <a:xfrm>
            <a:off x="8099123" y="2906713"/>
            <a:ext cx="3020242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Регулярный новостной поток</a:t>
            </a:r>
            <a:endParaRPr lang="en-US" sz="165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FF1A0FA2-5980-F949-4401-8911223C0BBA}"/>
              </a:ext>
            </a:extLst>
          </p:cNvPr>
          <p:cNvSpPr/>
          <p:nvPr/>
        </p:nvSpPr>
        <p:spPr>
          <a:xfrm>
            <a:off x="8099123" y="3224907"/>
            <a:ext cx="3318784" cy="68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Богатый и предсказуемый поток новостей, идеально подходящий для </a:t>
            </a:r>
            <a:r>
              <a:rPr lang="en-US" sz="1350" dirty="0" err="1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извлечения</a:t>
            </a:r>
            <a:r>
              <a:rPr lang="en-US" sz="135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350" dirty="0" err="1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контекста</a:t>
            </a:r>
            <a:r>
              <a:rPr lang="en-US" sz="135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и формирования прогнозов.</a:t>
            </a:r>
            <a:endParaRPr lang="en-US" sz="1350" dirty="0"/>
          </a:p>
        </p:txBody>
      </p:sp>
      <p:pic>
        <p:nvPicPr>
          <p:cNvPr id="15" name="Image 3" descr="preencoded.png">
            <a:extLst>
              <a:ext uri="{FF2B5EF4-FFF2-40B4-BE49-F238E27FC236}">
                <a16:creationId xmlns:a16="http://schemas.microsoft.com/office/drawing/2014/main" id="{EFA57A27-3E73-D8D0-01BF-2F792B2B0B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846" y="4084638"/>
            <a:ext cx="3662668" cy="687884"/>
          </a:xfrm>
          <a:prstGeom prst="rect">
            <a:avLst/>
          </a:prstGeom>
        </p:spPr>
      </p:pic>
      <p:sp>
        <p:nvSpPr>
          <p:cNvPr id="16" name="Text 8">
            <a:extLst>
              <a:ext uri="{FF2B5EF4-FFF2-40B4-BE49-F238E27FC236}">
                <a16:creationId xmlns:a16="http://schemas.microsoft.com/office/drawing/2014/main" id="{F61C3CE7-9E5F-9135-4394-E06EA5132325}"/>
              </a:ext>
            </a:extLst>
          </p:cNvPr>
          <p:cNvSpPr/>
          <p:nvPr/>
        </p:nvSpPr>
        <p:spPr>
          <a:xfrm>
            <a:off x="773788" y="4944467"/>
            <a:ext cx="2256575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Однородность домена</a:t>
            </a:r>
            <a:endParaRPr lang="en-US" sz="1650" dirty="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EF032615-4243-F2FC-5B8F-5533F2BBE6F1}"/>
              </a:ext>
            </a:extLst>
          </p:cNvPr>
          <p:cNvSpPr/>
          <p:nvPr/>
        </p:nvSpPr>
        <p:spPr>
          <a:xfrm>
            <a:off x="773788" y="5262662"/>
            <a:ext cx="3318784" cy="68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Более узкая и однородная предметная область по сравнению с широким спектром событий упрощает анализ и адаптацию моделей.</a:t>
            </a:r>
            <a:endParaRPr lang="en-US" sz="1350" dirty="0"/>
          </a:p>
        </p:txBody>
      </p:sp>
      <p:pic>
        <p:nvPicPr>
          <p:cNvPr id="18" name="Image 4" descr="preencoded.png">
            <a:extLst>
              <a:ext uri="{FF2B5EF4-FFF2-40B4-BE49-F238E27FC236}">
                <a16:creationId xmlns:a16="http://schemas.microsoft.com/office/drawing/2014/main" id="{7CCFF29D-05C2-AF25-83C7-6B90E12306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7181" y="4084638"/>
            <a:ext cx="3662668" cy="687884"/>
          </a:xfrm>
          <a:prstGeom prst="rect">
            <a:avLst/>
          </a:prstGeom>
        </p:spPr>
      </p:pic>
      <p:sp>
        <p:nvSpPr>
          <p:cNvPr id="19" name="Text 10">
            <a:extLst>
              <a:ext uri="{FF2B5EF4-FFF2-40B4-BE49-F238E27FC236}">
                <a16:creationId xmlns:a16="http://schemas.microsoft.com/office/drawing/2014/main" id="{67AA1A00-B4D5-2648-768C-1F02B7381785}"/>
              </a:ext>
            </a:extLst>
          </p:cNvPr>
          <p:cNvSpPr/>
          <p:nvPr/>
        </p:nvSpPr>
        <p:spPr>
          <a:xfrm>
            <a:off x="8099123" y="4944467"/>
            <a:ext cx="2149719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Удобство для LLM</a:t>
            </a:r>
            <a:endParaRPr lang="en-US" sz="1650" dirty="0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A9645752-B247-B346-C5B1-E03797EF5B98}"/>
              </a:ext>
            </a:extLst>
          </p:cNvPr>
          <p:cNvSpPr/>
          <p:nvPr/>
        </p:nvSpPr>
        <p:spPr>
          <a:xfrm>
            <a:off x="8099123" y="5262662"/>
            <a:ext cx="3318784" cy="68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Домен способствует эффективной </a:t>
            </a:r>
            <a:r>
              <a:rPr lang="en-US" sz="1350" dirty="0" err="1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доменной</a:t>
            </a:r>
            <a:r>
              <a:rPr lang="en-US" sz="135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350" dirty="0" err="1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адаптации</a:t>
            </a:r>
            <a:r>
              <a:rPr lang="en-US" sz="135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языковых моделей без чрезмерной сложности.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4027938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466E52-30BE-4DC5-9336-0424DFF50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задачи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8EBCAB-0E03-5252-6DC8-E8889535EC5F}"/>
              </a:ext>
            </a:extLst>
          </p:cNvPr>
          <p:cNvSpPr txBox="1"/>
          <p:nvPr/>
        </p:nvSpPr>
        <p:spPr>
          <a:xfrm>
            <a:off x="389964" y="1414488"/>
            <a:ext cx="9959788" cy="371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Формальная</a:t>
            </a:r>
            <a:r>
              <a:rPr lang="en-US" sz="18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постановка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89964" y="2085780"/>
            <a:ext cx="6390980" cy="702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Дан вопрос о будущем событии в домене поп-культуры и релевантный новостной контекст. Требуется предсказать вероятность положительного </a:t>
            </a:r>
            <a:r>
              <a:rPr lang="en-US" sz="1400" dirty="0" err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исхода</a:t>
            </a:r>
            <a:r>
              <a:rPr lang="en-US" sz="14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</a:t>
            </a:r>
            <a:endParaRPr lang="ru-RU" sz="1400" dirty="0">
              <a:solidFill>
                <a:srgbClr val="000000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P(outcome = YES | question, context)</a:t>
            </a:r>
            <a:r>
              <a:rPr lang="en-US" sz="14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3505" y="2995864"/>
            <a:ext cx="225022" cy="2250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44897" y="2991251"/>
            <a:ext cx="1875981" cy="234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Бинарный прогноз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944897" y="3368282"/>
            <a:ext cx="5357877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Каждый вопрос имеет бинарный исход: YES / NO. Задача — калиброванная оценка вероятности.</a:t>
            </a:r>
            <a:endParaRPr lang="en-US" sz="11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3505" y="4126363"/>
            <a:ext cx="225022" cy="2250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44897" y="4121749"/>
            <a:ext cx="1875981" cy="234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Сложный домен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944897" y="4498780"/>
            <a:ext cx="5357877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Pop culture: высокий шум, субъективность, зависимость от вирусных трендов и медиаконтекста.</a:t>
            </a:r>
            <a:endParaRPr lang="en-US" sz="11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3505" y="5256861"/>
            <a:ext cx="225022" cy="22502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44897" y="5252248"/>
            <a:ext cx="1875981" cy="234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Почему LLM?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944897" y="5629279"/>
            <a:ext cx="5357877" cy="702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LLM способны обрабатывать неструктурированный текстовый контекст и переносить общие знания о мире на узкоспециализированные задачи прогнозирования.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6741845" y="1495822"/>
            <a:ext cx="4932239" cy="4883249"/>
          </a:xfrm>
          <a:prstGeom prst="roundRect">
            <a:avLst>
              <a:gd name="adj" fmla="val 4426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18" name="Text 12"/>
          <p:cNvSpPr/>
          <p:nvPr/>
        </p:nvSpPr>
        <p:spPr>
          <a:xfrm>
            <a:off x="6891860" y="1638399"/>
            <a:ext cx="4028875" cy="234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chemeClr val="tx2">
                    <a:lumMod val="75000"/>
                  </a:schemeClr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Примеры прогностических вопросов</a:t>
            </a:r>
            <a:endParaRPr lang="en-US" sz="145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9" name="Shape 13"/>
          <p:cNvSpPr/>
          <p:nvPr/>
        </p:nvSpPr>
        <p:spPr>
          <a:xfrm>
            <a:off x="6891860" y="2033191"/>
            <a:ext cx="4632209" cy="799902"/>
          </a:xfrm>
          <a:prstGeom prst="roundRect">
            <a:avLst>
              <a:gd name="adj" fmla="val 16886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1875" y="2254548"/>
            <a:ext cx="187519" cy="150019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379408" y="2198985"/>
            <a:ext cx="3994645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«Выиграет ли фильм X премию "Оскар" в категории лучший фильм в 2024 году?»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6891860" y="2993430"/>
            <a:ext cx="4632209" cy="799902"/>
          </a:xfrm>
          <a:prstGeom prst="roundRect">
            <a:avLst>
              <a:gd name="adj" fmla="val 16886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1875" y="3214787"/>
            <a:ext cx="187519" cy="150019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379408" y="3159224"/>
            <a:ext cx="3994645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«Превысит ли альбом Y 500M стримингов за первые 30 дней?»</a:t>
            </a:r>
            <a:endParaRPr lang="en-US" sz="1150" dirty="0"/>
          </a:p>
        </p:txBody>
      </p:sp>
      <p:sp>
        <p:nvSpPr>
          <p:cNvPr id="25" name="Shape 17"/>
          <p:cNvSpPr/>
          <p:nvPr/>
        </p:nvSpPr>
        <p:spPr>
          <a:xfrm>
            <a:off x="6891860" y="3953669"/>
            <a:ext cx="4632209" cy="799902"/>
          </a:xfrm>
          <a:prstGeom prst="roundRect">
            <a:avLst>
              <a:gd name="adj" fmla="val 16886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1875" y="4175026"/>
            <a:ext cx="187519" cy="150019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379408" y="4119463"/>
            <a:ext cx="3994645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«Войдёт ли сериал Z в топ-10 Netflix в течение первой недели выхода?»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999061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3"/>
          <p:cNvSpPr/>
          <p:nvPr/>
        </p:nvSpPr>
        <p:spPr>
          <a:xfrm>
            <a:off x="612164" y="1636706"/>
            <a:ext cx="5436258" cy="1792294"/>
          </a:xfrm>
          <a:prstGeom prst="roundRect">
            <a:avLst>
              <a:gd name="adj" fmla="val 12912"/>
            </a:avLst>
          </a:prstGeom>
          <a:solidFill>
            <a:schemeClr val="tx2">
              <a:lumMod val="40000"/>
              <a:lumOff val="60000"/>
            </a:schemeClr>
          </a:solidFill>
          <a:ln w="6350">
            <a:solidFill>
              <a:srgbClr val="3B3B3B"/>
            </a:solidFill>
            <a:prstDash val="solid"/>
          </a:ln>
          <a:effectLst>
            <a:softEdge rad="63500"/>
          </a:effectLst>
        </p:spPr>
      </p:sp>
      <p:sp>
        <p:nvSpPr>
          <p:cNvPr id="11" name="Text 4"/>
          <p:cNvSpPr/>
          <p:nvPr/>
        </p:nvSpPr>
        <p:spPr>
          <a:xfrm>
            <a:off x="740947" y="1789431"/>
            <a:ext cx="2555613" cy="191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Проблема 1: </a:t>
            </a:r>
            <a:r>
              <a:rPr lang="en-US" dirty="0" err="1"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Нехватка</a:t>
            </a:r>
            <a:r>
              <a:rPr lang="en-US" dirty="0"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</a:t>
            </a:r>
            <a:r>
              <a:rPr lang="ru-RU" dirty="0"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данных</a:t>
            </a:r>
            <a:endParaRPr lang="en-US" dirty="0"/>
          </a:p>
        </p:txBody>
      </p:sp>
      <p:sp>
        <p:nvSpPr>
          <p:cNvPr id="12" name="Text 5"/>
          <p:cNvSpPr/>
          <p:nvPr/>
        </p:nvSpPr>
        <p:spPr>
          <a:xfrm>
            <a:off x="740947" y="2335531"/>
            <a:ext cx="5178692" cy="12240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18000"/>
              </a:lnSpc>
              <a:buNone/>
            </a:pPr>
            <a:r>
              <a:rPr lang="en-US" sz="14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Forecasting-датасеты в домене поп-культуры крайне малочисленны. Общедоступные </a:t>
            </a:r>
            <a:r>
              <a:rPr lang="en-US" sz="1400" dirty="0" err="1">
                <a:latin typeface="DM Sans" pitchFamily="34" charset="0"/>
                <a:ea typeface="DM Sans" pitchFamily="34" charset="-122"/>
                <a:cs typeface="DM Sans" pitchFamily="34" charset="-120"/>
              </a:rPr>
              <a:t>источники</a:t>
            </a:r>
            <a:r>
              <a:rPr lang="en-US" sz="14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00" dirty="0" err="1">
                <a:latin typeface="DM Sans" pitchFamily="34" charset="0"/>
                <a:ea typeface="DM Sans" pitchFamily="34" charset="-122"/>
                <a:cs typeface="DM Sans" pitchFamily="34" charset="-120"/>
              </a:rPr>
              <a:t>покрывают</a:t>
            </a:r>
            <a:r>
              <a:rPr lang="en-US" sz="14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 политику и экономику, но не культуру.</a:t>
            </a:r>
            <a:endParaRPr lang="en-US" sz="1400" dirty="0"/>
          </a:p>
        </p:txBody>
      </p:sp>
      <p:sp>
        <p:nvSpPr>
          <p:cNvPr id="13" name="Shape 6"/>
          <p:cNvSpPr/>
          <p:nvPr/>
        </p:nvSpPr>
        <p:spPr>
          <a:xfrm>
            <a:off x="6143273" y="1636706"/>
            <a:ext cx="5436258" cy="1792294"/>
          </a:xfrm>
          <a:prstGeom prst="roundRect">
            <a:avLst>
              <a:gd name="adj" fmla="val 12912"/>
            </a:avLst>
          </a:prstGeom>
          <a:solidFill>
            <a:schemeClr val="tx2">
              <a:lumMod val="40000"/>
              <a:lumOff val="60000"/>
            </a:schemeClr>
          </a:solidFill>
          <a:ln w="6350">
            <a:solidFill>
              <a:srgbClr val="3B3B3B"/>
            </a:solidFill>
            <a:prstDash val="solid"/>
          </a:ln>
          <a:effectLst>
            <a:softEdge rad="63500"/>
          </a:effectLst>
        </p:spPr>
      </p:sp>
      <p:sp>
        <p:nvSpPr>
          <p:cNvPr id="14" name="Text 7"/>
          <p:cNvSpPr/>
          <p:nvPr/>
        </p:nvSpPr>
        <p:spPr>
          <a:xfrm>
            <a:off x="6305988" y="1789431"/>
            <a:ext cx="3132654" cy="191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Проблема 2:  </a:t>
            </a:r>
            <a:r>
              <a:rPr lang="ru-RU" sz="1600" dirty="0"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Ограниченность данных на </a:t>
            </a:r>
            <a:r>
              <a:rPr lang="ru-RU" sz="1600" dirty="0" err="1"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Полимаркете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6305988" y="2335531"/>
            <a:ext cx="5178692" cy="97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18000"/>
              </a:lnSpc>
              <a:buNone/>
            </a:pPr>
            <a:r>
              <a:rPr lang="en-US" sz="14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~19K </a:t>
            </a:r>
            <a:r>
              <a:rPr lang="ru-RU" sz="14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 завершенных </a:t>
            </a:r>
            <a:r>
              <a:rPr lang="en-US" sz="1400" dirty="0" err="1">
                <a:latin typeface="DM Sans" pitchFamily="34" charset="0"/>
                <a:ea typeface="DM Sans" pitchFamily="34" charset="-122"/>
                <a:cs typeface="DM Sans" pitchFamily="34" charset="-120"/>
              </a:rPr>
              <a:t>вопросов</a:t>
            </a:r>
            <a:r>
              <a:rPr lang="en-US" sz="14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 — </a:t>
            </a:r>
            <a:r>
              <a:rPr lang="en-US" sz="1400" dirty="0" err="1">
                <a:latin typeface="DM Sans" pitchFamily="34" charset="0"/>
                <a:ea typeface="DM Sans" pitchFamily="34" charset="-122"/>
                <a:cs typeface="DM Sans" pitchFamily="34" charset="-120"/>
              </a:rPr>
              <a:t>достаточно</a:t>
            </a:r>
            <a:r>
              <a:rPr lang="en-US" sz="14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00" dirty="0" err="1">
                <a:latin typeface="DM Sans" pitchFamily="34" charset="0"/>
                <a:ea typeface="DM Sans" pitchFamily="34" charset="-122"/>
                <a:cs typeface="DM Sans" pitchFamily="34" charset="-120"/>
              </a:rPr>
              <a:t>для</a:t>
            </a:r>
            <a:r>
              <a:rPr lang="en-US" sz="14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00" dirty="0" err="1">
                <a:latin typeface="DM Sans" pitchFamily="34" charset="0"/>
                <a:ea typeface="DM Sans" pitchFamily="34" charset="-122"/>
                <a:cs typeface="DM Sans" pitchFamily="34" charset="-120"/>
              </a:rPr>
              <a:t>обучения</a:t>
            </a:r>
            <a:r>
              <a:rPr lang="en-US" sz="14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1400" dirty="0" err="1">
                <a:latin typeface="DM Sans" pitchFamily="34" charset="0"/>
                <a:ea typeface="DM Sans" pitchFamily="34" charset="-122"/>
                <a:cs typeface="DM Sans" pitchFamily="34" charset="-120"/>
              </a:rPr>
              <a:t>но</a:t>
            </a:r>
            <a:r>
              <a:rPr lang="en-US" sz="14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00" dirty="0" err="1">
                <a:latin typeface="DM Sans" pitchFamily="34" charset="0"/>
                <a:ea typeface="DM Sans" pitchFamily="34" charset="-122"/>
                <a:cs typeface="DM Sans" pitchFamily="34" charset="-120"/>
              </a:rPr>
              <a:t>домен</a:t>
            </a:r>
            <a:r>
              <a:rPr lang="en-US" sz="14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00" dirty="0" err="1">
                <a:latin typeface="DM Sans" pitchFamily="34" charset="0"/>
                <a:ea typeface="DM Sans" pitchFamily="34" charset="-122"/>
                <a:cs typeface="DM Sans" pitchFamily="34" charset="-120"/>
              </a:rPr>
              <a:t>охвачен</a:t>
            </a:r>
            <a:r>
              <a:rPr lang="en-US" sz="14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00" dirty="0" err="1">
                <a:latin typeface="DM Sans" pitchFamily="34" charset="0"/>
                <a:ea typeface="DM Sans" pitchFamily="34" charset="-122"/>
                <a:cs typeface="DM Sans" pitchFamily="34" charset="-120"/>
              </a:rPr>
              <a:t>неравномерно</a:t>
            </a:r>
            <a:r>
              <a:rPr lang="en-US" sz="14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: </a:t>
            </a:r>
            <a:r>
              <a:rPr lang="en-US" sz="1400" dirty="0" err="1">
                <a:latin typeface="DM Sans" pitchFamily="34" charset="0"/>
                <a:ea typeface="DM Sans" pitchFamily="34" charset="-122"/>
                <a:cs typeface="DM Sans" pitchFamily="34" charset="-120"/>
              </a:rPr>
              <a:t>некоторые</a:t>
            </a:r>
            <a:r>
              <a:rPr lang="en-US" sz="14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00" dirty="0" err="1">
                <a:latin typeface="DM Sans" pitchFamily="34" charset="0"/>
                <a:ea typeface="DM Sans" pitchFamily="34" charset="-122"/>
                <a:cs typeface="DM Sans" pitchFamily="34" charset="-120"/>
              </a:rPr>
              <a:t>поджанры</a:t>
            </a:r>
            <a:r>
              <a:rPr lang="en-US" sz="14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00" dirty="0" err="1">
                <a:latin typeface="DM Sans" pitchFamily="34" charset="0"/>
                <a:ea typeface="DM Sans" pitchFamily="34" charset="-122"/>
                <a:cs typeface="DM Sans" pitchFamily="34" charset="-120"/>
              </a:rPr>
              <a:t>культуры</a:t>
            </a:r>
            <a:r>
              <a:rPr lang="en-US" sz="14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00" dirty="0" err="1">
                <a:latin typeface="DM Sans" pitchFamily="34" charset="0"/>
                <a:ea typeface="DM Sans" pitchFamily="34" charset="-122"/>
                <a:cs typeface="DM Sans" pitchFamily="34" charset="-120"/>
              </a:rPr>
              <a:t>представлены</a:t>
            </a:r>
            <a:r>
              <a:rPr lang="en-US" sz="14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00" dirty="0" err="1">
                <a:latin typeface="DM Sans" pitchFamily="34" charset="0"/>
                <a:ea typeface="DM Sans" pitchFamily="34" charset="-122"/>
                <a:cs typeface="DM Sans" pitchFamily="34" charset="-120"/>
              </a:rPr>
              <a:t>слабо</a:t>
            </a:r>
            <a:r>
              <a:rPr lang="en-US" sz="14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00" dirty="0" err="1">
                <a:latin typeface="DM Sans" pitchFamily="34" charset="0"/>
                <a:ea typeface="DM Sans" pitchFamily="34" charset="-122"/>
                <a:cs typeface="DM Sans" pitchFamily="34" charset="-120"/>
              </a:rPr>
              <a:t>или</a:t>
            </a:r>
            <a:r>
              <a:rPr lang="en-US" sz="14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00" dirty="0" err="1">
                <a:latin typeface="DM Sans" pitchFamily="34" charset="0"/>
                <a:ea typeface="DM Sans" pitchFamily="34" charset="-122"/>
                <a:cs typeface="DM Sans" pitchFamily="34" charset="-120"/>
              </a:rPr>
              <a:t>отсутствуют</a:t>
            </a:r>
            <a:r>
              <a:rPr lang="en-US" sz="140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400" dirty="0"/>
          </a:p>
        </p:txBody>
      </p:sp>
      <p:sp>
        <p:nvSpPr>
          <p:cNvPr id="16" name="Shape 9"/>
          <p:cNvSpPr/>
          <p:nvPr/>
        </p:nvSpPr>
        <p:spPr>
          <a:xfrm>
            <a:off x="612164" y="4489051"/>
            <a:ext cx="5436258" cy="1747362"/>
          </a:xfrm>
          <a:prstGeom prst="roundRect">
            <a:avLst>
              <a:gd name="adj" fmla="val 12912"/>
            </a:avLst>
          </a:prstGeom>
          <a:solidFill>
            <a:schemeClr val="tx2">
              <a:lumMod val="40000"/>
              <a:lumOff val="60000"/>
            </a:schemeClr>
          </a:solidFill>
          <a:ln w="6350">
            <a:solidFill>
              <a:srgbClr val="3B3B3B"/>
            </a:solidFill>
            <a:prstDash val="solid"/>
          </a:ln>
          <a:effectLst>
            <a:softEdge rad="63500"/>
          </a:effectLst>
        </p:spPr>
      </p:sp>
      <p:sp>
        <p:nvSpPr>
          <p:cNvPr id="17" name="Text 10"/>
          <p:cNvSpPr/>
          <p:nvPr/>
        </p:nvSpPr>
        <p:spPr>
          <a:xfrm>
            <a:off x="740947" y="4679484"/>
            <a:ext cx="3221255" cy="191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Проблема 3: Базовая LLM не адаптирована</a:t>
            </a:r>
            <a:endParaRPr lang="en-US" dirty="0"/>
          </a:p>
        </p:txBody>
      </p:sp>
      <p:sp>
        <p:nvSpPr>
          <p:cNvPr id="18" name="Text 11"/>
          <p:cNvSpPr/>
          <p:nvPr/>
        </p:nvSpPr>
        <p:spPr>
          <a:xfrm>
            <a:off x="740947" y="5153658"/>
            <a:ext cx="5178692" cy="928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algn="just">
              <a:lnSpc>
                <a:spcPct val="118000"/>
              </a:lnSpc>
            </a:pPr>
            <a:r>
              <a:rPr lang="ru-RU" sz="1400" dirty="0" err="1">
                <a:latin typeface="DM Sans" pitchFamily="34" charset="0"/>
                <a:ea typeface="DM Sans" pitchFamily="34" charset="-122"/>
                <a:cs typeface="DM Sans" pitchFamily="34" charset="-120"/>
              </a:rPr>
              <a:t>Предобученная</a:t>
            </a:r>
            <a:r>
              <a:rPr lang="en-US" sz="14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 LLM </a:t>
            </a:r>
            <a:r>
              <a:rPr lang="en-US" sz="1400" dirty="0" err="1">
                <a:latin typeface="DM Sans" pitchFamily="34" charset="0"/>
                <a:ea typeface="DM Sans" pitchFamily="34" charset="-122"/>
                <a:cs typeface="DM Sans" pitchFamily="34" charset="-120"/>
              </a:rPr>
              <a:t>оптимизирована</a:t>
            </a:r>
            <a:r>
              <a:rPr lang="en-US" sz="14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00" dirty="0" err="1">
                <a:latin typeface="DM Sans" pitchFamily="34" charset="0"/>
                <a:ea typeface="DM Sans" pitchFamily="34" charset="-122"/>
                <a:cs typeface="DM Sans" pitchFamily="34" charset="-120"/>
              </a:rPr>
              <a:t>под</a:t>
            </a:r>
            <a:r>
              <a:rPr lang="ru-RU" sz="14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 генерацию текста</a:t>
            </a:r>
            <a:r>
              <a:rPr lang="en-US" sz="14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, а не </a:t>
            </a:r>
            <a:r>
              <a:rPr lang="en-US" sz="1400" dirty="0" err="1">
                <a:latin typeface="DM Sans" pitchFamily="34" charset="0"/>
                <a:ea typeface="DM Sans" pitchFamily="34" charset="-122"/>
                <a:cs typeface="DM Sans" pitchFamily="34" charset="-120"/>
              </a:rPr>
              <a:t>под</a:t>
            </a:r>
            <a:r>
              <a:rPr lang="en-US" sz="14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ru-RU" sz="14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п</a:t>
            </a:r>
            <a:r>
              <a:rPr lang="ru-RU" sz="1400" dirty="0"/>
              <a:t>олучение хорошо откалиброванных вероятностных оценок. </a:t>
            </a:r>
            <a:r>
              <a:rPr lang="en-US" sz="1400" dirty="0" err="1">
                <a:latin typeface="DM Sans" pitchFamily="34" charset="0"/>
                <a:ea typeface="DM Sans" pitchFamily="34" charset="-122"/>
                <a:cs typeface="DM Sans" pitchFamily="34" charset="-120"/>
              </a:rPr>
              <a:t>Без</a:t>
            </a:r>
            <a:r>
              <a:rPr lang="en-US" sz="14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 fine-tuning модель не умеет прогнозировать надёжно.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6177205" y="4489051"/>
            <a:ext cx="5436258" cy="1747362"/>
          </a:xfrm>
          <a:prstGeom prst="roundRect">
            <a:avLst>
              <a:gd name="adj" fmla="val 12912"/>
            </a:avLst>
          </a:prstGeom>
          <a:solidFill>
            <a:schemeClr val="tx2">
              <a:lumMod val="60000"/>
              <a:lumOff val="40000"/>
            </a:schemeClr>
          </a:solidFill>
          <a:ln w="6350">
            <a:solidFill>
              <a:srgbClr val="3B3B3B"/>
            </a:solidFill>
            <a:prstDash val="solid"/>
          </a:ln>
          <a:effectLst>
            <a:softEdge rad="63500"/>
          </a:effectLst>
        </p:spPr>
      </p:sp>
      <p:sp>
        <p:nvSpPr>
          <p:cNvPr id="20" name="Text 13"/>
          <p:cNvSpPr/>
          <p:nvPr/>
        </p:nvSpPr>
        <p:spPr>
          <a:xfrm>
            <a:off x="6305988" y="4679484"/>
            <a:ext cx="2743727" cy="191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 err="1"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Решение</a:t>
            </a:r>
            <a:r>
              <a:rPr lang="en-US" sz="1600" dirty="0"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: Domain adaptation pipeline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6305988" y="5153658"/>
            <a:ext cx="5178692" cy="1000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18000"/>
              </a:lnSpc>
              <a:buNone/>
            </a:pPr>
            <a:r>
              <a:rPr lang="ru-RU" sz="14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Генерация дополнительных данных</a:t>
            </a:r>
            <a:r>
              <a:rPr lang="en-US" sz="14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 расширяет покрытие. </a:t>
            </a:r>
            <a:r>
              <a:rPr lang="ru-RU" sz="14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Подбор новостей</a:t>
            </a:r>
            <a:r>
              <a:rPr lang="en-US" sz="14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 обеспечивает актуальный контекст. Fine-tuning адаптирует модель </a:t>
            </a:r>
            <a:r>
              <a:rPr lang="en-US" sz="1400" dirty="0" err="1">
                <a:latin typeface="DM Sans" pitchFamily="34" charset="0"/>
                <a:ea typeface="DM Sans" pitchFamily="34" charset="-122"/>
                <a:cs typeface="DM Sans" pitchFamily="34" charset="-120"/>
              </a:rPr>
              <a:t>под</a:t>
            </a:r>
            <a:r>
              <a:rPr lang="en-US" sz="14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ru-RU" sz="14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целевое прогнозирование</a:t>
            </a:r>
            <a:r>
              <a:rPr lang="en-US" sz="14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400" dirty="0"/>
          </a:p>
        </p:txBody>
      </p:sp>
      <p:sp>
        <p:nvSpPr>
          <p:cNvPr id="26" name="Text 2"/>
          <p:cNvSpPr/>
          <p:nvPr/>
        </p:nvSpPr>
        <p:spPr>
          <a:xfrm>
            <a:off x="2489435" y="776188"/>
            <a:ext cx="9090095" cy="382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en-US" sz="2400" dirty="0">
                <a:solidFill>
                  <a:schemeClr val="accent1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Почему существующих данных и моделей недостаточно</a:t>
            </a:r>
            <a:endParaRPr lang="en-US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9398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2">
            <a:extLst>
              <a:ext uri="{FF2B5EF4-FFF2-40B4-BE49-F238E27FC236}">
                <a16:creationId xmlns:a16="http://schemas.microsoft.com/office/drawing/2014/main" id="{6F8FEFD8-D565-E10F-5830-B9C0999BF0F4}"/>
              </a:ext>
            </a:extLst>
          </p:cNvPr>
          <p:cNvSpPr/>
          <p:nvPr/>
        </p:nvSpPr>
        <p:spPr>
          <a:xfrm>
            <a:off x="612164" y="728563"/>
            <a:ext cx="4052985" cy="430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chemeClr val="accent1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Источники данных</a:t>
            </a:r>
            <a:endParaRPr lang="en-US" sz="2700" dirty="0">
              <a:solidFill>
                <a:schemeClr val="accent1"/>
              </a:solidFill>
            </a:endParaRPr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917E0AB2-B7E3-86A0-D3EE-5C6D4D2399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2164" y="1474093"/>
            <a:ext cx="6445982" cy="1456531"/>
          </a:xfrm>
          <a:prstGeom prst="rect">
            <a:avLst/>
          </a:prstGeom>
        </p:spPr>
      </p:pic>
      <p:sp>
        <p:nvSpPr>
          <p:cNvPr id="10" name="Text 3">
            <a:extLst>
              <a:ext uri="{FF2B5EF4-FFF2-40B4-BE49-F238E27FC236}">
                <a16:creationId xmlns:a16="http://schemas.microsoft.com/office/drawing/2014/main" id="{4E9C4FBB-8E67-C41A-B2E5-B4AA7C97C13C}"/>
              </a:ext>
            </a:extLst>
          </p:cNvPr>
          <p:cNvSpPr/>
          <p:nvPr/>
        </p:nvSpPr>
        <p:spPr>
          <a:xfrm>
            <a:off x="3731821" y="1567458"/>
            <a:ext cx="206568" cy="2581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chemeClr val="tx2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CA866820-6DD0-9CB8-579B-99F9F761BDD9}"/>
              </a:ext>
            </a:extLst>
          </p:cNvPr>
          <p:cNvSpPr/>
          <p:nvPr/>
        </p:nvSpPr>
        <p:spPr>
          <a:xfrm>
            <a:off x="768926" y="2026345"/>
            <a:ext cx="2820421" cy="215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chemeClr val="tx2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Polymarket — Real Culture Markets</a:t>
            </a:r>
            <a:endParaRPr lang="en-US" sz="1350" dirty="0">
              <a:solidFill>
                <a:schemeClr val="tx2"/>
              </a:solidFill>
            </a:endParaRP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B4958B8B-F717-8DE5-29EC-2BD0482E1931}"/>
              </a:ext>
            </a:extLst>
          </p:cNvPr>
          <p:cNvSpPr/>
          <p:nvPr/>
        </p:nvSpPr>
        <p:spPr>
          <a:xfrm>
            <a:off x="768926" y="2361505"/>
            <a:ext cx="6132458" cy="412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~19 000 </a:t>
            </a:r>
            <a:r>
              <a:rPr lang="ru-RU" sz="1200" dirty="0">
                <a:solidFill>
                  <a:schemeClr val="tx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закрытых</a:t>
            </a:r>
            <a:r>
              <a:rPr lang="en-US" sz="1200" dirty="0">
                <a:solidFill>
                  <a:schemeClr val="tx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рынков предсказаний по категории «культура». Каждый рынок содержит вопрос, дату резолюции и бинарный исход (YES/NO). Основа обучающего корпуса.</a:t>
            </a:r>
            <a:endParaRPr lang="en-US" sz="1200" dirty="0">
              <a:solidFill>
                <a:schemeClr val="tx2"/>
              </a:solidFill>
            </a:endParaRPr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B31C9D5D-C9A3-ACE9-FBA6-16B3BA2384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164" y="3050679"/>
            <a:ext cx="6445982" cy="1662708"/>
          </a:xfrm>
          <a:prstGeom prst="rect">
            <a:avLst/>
          </a:prstGeom>
        </p:spPr>
      </p:pic>
      <p:sp>
        <p:nvSpPr>
          <p:cNvPr id="14" name="Text 6">
            <a:extLst>
              <a:ext uri="{FF2B5EF4-FFF2-40B4-BE49-F238E27FC236}">
                <a16:creationId xmlns:a16="http://schemas.microsoft.com/office/drawing/2014/main" id="{4B2CE195-DE4F-EFD3-46A6-B059B1F7F7E8}"/>
              </a:ext>
            </a:extLst>
          </p:cNvPr>
          <p:cNvSpPr/>
          <p:nvPr/>
        </p:nvSpPr>
        <p:spPr>
          <a:xfrm>
            <a:off x="3731821" y="3144044"/>
            <a:ext cx="206568" cy="2581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chemeClr val="tx2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4A1038C3-9BA0-557E-315F-521D47C00DC6}"/>
              </a:ext>
            </a:extLst>
          </p:cNvPr>
          <p:cNvSpPr/>
          <p:nvPr/>
        </p:nvSpPr>
        <p:spPr>
          <a:xfrm>
            <a:off x="768926" y="3602930"/>
            <a:ext cx="2293682" cy="215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chemeClr val="tx2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Synthetic Culture Questions</a:t>
            </a:r>
            <a:endParaRPr lang="en-US" sz="1350" dirty="0">
              <a:solidFill>
                <a:schemeClr val="tx2"/>
              </a:solidFill>
            </a:endParaRP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387697B1-62B7-829B-72EE-74D9FDF846F6}"/>
              </a:ext>
            </a:extLst>
          </p:cNvPr>
          <p:cNvSpPr/>
          <p:nvPr/>
        </p:nvSpPr>
        <p:spPr>
          <a:xfrm>
            <a:off x="768926" y="3938091"/>
            <a:ext cx="6132458" cy="618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chemeClr val="tx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~2 000 синтетически сгенерированных вопросов по поджанрам поп-культуры с недостаточным покрытием. Генерация через LLM с контролем качества и разнообразия тематик.</a:t>
            </a:r>
            <a:endParaRPr lang="en-US" sz="1100" dirty="0">
              <a:solidFill>
                <a:schemeClr val="tx2"/>
              </a:solidFill>
            </a:endParaRPr>
          </a:p>
        </p:txBody>
      </p:sp>
      <p:pic>
        <p:nvPicPr>
          <p:cNvPr id="17" name="Image 2" descr="preencoded.png">
            <a:extLst>
              <a:ext uri="{FF2B5EF4-FFF2-40B4-BE49-F238E27FC236}">
                <a16:creationId xmlns:a16="http://schemas.microsoft.com/office/drawing/2014/main" id="{FA60E6F3-DCD3-42A7-5AD9-49E489BBA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164" y="4833441"/>
            <a:ext cx="6445982" cy="1456531"/>
          </a:xfrm>
          <a:prstGeom prst="rect">
            <a:avLst/>
          </a:prstGeom>
        </p:spPr>
      </p:pic>
      <p:sp>
        <p:nvSpPr>
          <p:cNvPr id="18" name="Text 9">
            <a:extLst>
              <a:ext uri="{FF2B5EF4-FFF2-40B4-BE49-F238E27FC236}">
                <a16:creationId xmlns:a16="http://schemas.microsoft.com/office/drawing/2014/main" id="{DAF84BFF-E661-8CC0-381B-327F9294F4FB}"/>
              </a:ext>
            </a:extLst>
          </p:cNvPr>
          <p:cNvSpPr/>
          <p:nvPr/>
        </p:nvSpPr>
        <p:spPr>
          <a:xfrm>
            <a:off x="3731821" y="4926806"/>
            <a:ext cx="206568" cy="2581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chemeClr val="tx2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82D7857-37E4-8343-95FF-F715F65990C9}"/>
              </a:ext>
            </a:extLst>
          </p:cNvPr>
          <p:cNvSpPr/>
          <p:nvPr/>
        </p:nvSpPr>
        <p:spPr>
          <a:xfrm>
            <a:off x="768926" y="5385693"/>
            <a:ext cx="1782222" cy="215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chemeClr val="tx2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News Retrieval via Exa</a:t>
            </a:r>
            <a:endParaRPr lang="en-US" sz="1350" dirty="0">
              <a:solidFill>
                <a:schemeClr val="tx2"/>
              </a:solidFill>
            </a:endParaRPr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0F208337-55BA-487B-6825-340214593B6C}"/>
              </a:ext>
            </a:extLst>
          </p:cNvPr>
          <p:cNvSpPr/>
          <p:nvPr/>
        </p:nvSpPr>
        <p:spPr>
          <a:xfrm>
            <a:off x="768926" y="5720854"/>
            <a:ext cx="6132458" cy="412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chemeClr val="tx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Для каждого вопроса через Exa-API подбирался релевантный новостной контекст — статьи, анонсы, рецензии, — вышедшие до даты резолюции.</a:t>
            </a:r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35" name="Прямоугольник: скругленные верхние углы 34">
            <a:extLst>
              <a:ext uri="{FF2B5EF4-FFF2-40B4-BE49-F238E27FC236}">
                <a16:creationId xmlns:a16="http://schemas.microsoft.com/office/drawing/2014/main" id="{5FCD4987-6075-3BF7-9D75-D65E7586FD32}"/>
              </a:ext>
            </a:extLst>
          </p:cNvPr>
          <p:cNvSpPr/>
          <p:nvPr/>
        </p:nvSpPr>
        <p:spPr>
          <a:xfrm>
            <a:off x="612164" y="3050679"/>
            <a:ext cx="6445982" cy="457374"/>
          </a:xfrm>
          <a:prstGeom prst="round2SameRect">
            <a:avLst/>
          </a:prstGeom>
          <a:noFill/>
          <a:ln w="1905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ик: скругленные верхние углы 35">
            <a:extLst>
              <a:ext uri="{FF2B5EF4-FFF2-40B4-BE49-F238E27FC236}">
                <a16:creationId xmlns:a16="http://schemas.microsoft.com/office/drawing/2014/main" id="{D691CF96-AB75-FD18-60EB-C47E6C857230}"/>
              </a:ext>
            </a:extLst>
          </p:cNvPr>
          <p:cNvSpPr/>
          <p:nvPr/>
        </p:nvSpPr>
        <p:spPr>
          <a:xfrm>
            <a:off x="620728" y="4816113"/>
            <a:ext cx="6445982" cy="457374"/>
          </a:xfrm>
          <a:prstGeom prst="round2SameRect">
            <a:avLst/>
          </a:prstGeom>
          <a:noFill/>
          <a:ln w="1905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3003E100-883C-7BFB-B03A-1A9063F9F9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1114" y="1825625"/>
            <a:ext cx="4209651" cy="396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74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C9C17D-1B13-4EAD-8EB7-86B0C9356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951" y="24834"/>
            <a:ext cx="10728434" cy="1325563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Сбор данных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Polymarket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AC43290-83E2-E64B-98D6-BB7DD2DB1763}"/>
              </a:ext>
            </a:extLst>
          </p:cNvPr>
          <p:cNvSpPr/>
          <p:nvPr/>
        </p:nvSpPr>
        <p:spPr>
          <a:xfrm>
            <a:off x="601846" y="1716782"/>
            <a:ext cx="3211432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212423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Критерии отбора рынков</a:t>
            </a:r>
            <a:endParaRPr lang="en-US" sz="1650" dirty="0"/>
          </a:p>
        </p:txBody>
      </p:sp>
      <p:pic>
        <p:nvPicPr>
          <p:cNvPr id="16" name="Image 0" descr="preencoded.png">
            <a:extLst>
              <a:ext uri="{FF2B5EF4-FFF2-40B4-BE49-F238E27FC236}">
                <a16:creationId xmlns:a16="http://schemas.microsoft.com/office/drawing/2014/main" id="{F54B7EE7-942C-F43C-D313-3B76539BC1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1846" y="2125266"/>
            <a:ext cx="5854554" cy="1112838"/>
          </a:xfrm>
          <a:prstGeom prst="rect">
            <a:avLst/>
          </a:prstGeom>
        </p:spPr>
      </p:pic>
      <p:sp>
        <p:nvSpPr>
          <p:cNvPr id="18" name="Text 2">
            <a:extLst>
              <a:ext uri="{FF2B5EF4-FFF2-40B4-BE49-F238E27FC236}">
                <a16:creationId xmlns:a16="http://schemas.microsoft.com/office/drawing/2014/main" id="{3E33C055-3F1A-63AA-4A27-5D2003A19FBE}"/>
              </a:ext>
            </a:extLst>
          </p:cNvPr>
          <p:cNvSpPr/>
          <p:nvPr/>
        </p:nvSpPr>
        <p:spPr>
          <a:xfrm>
            <a:off x="835798" y="2552700"/>
            <a:ext cx="257962" cy="2579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1</a:t>
            </a:r>
            <a:endParaRPr lang="en-US" sz="2000" dirty="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5E96F655-A2E5-2DF5-5252-35A1D45BE8F9}"/>
              </a:ext>
            </a:extLst>
          </p:cNvPr>
          <p:cNvSpPr/>
          <p:nvPr/>
        </p:nvSpPr>
        <p:spPr>
          <a:xfrm>
            <a:off x="1480704" y="2316262"/>
            <a:ext cx="2358371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Фильтрация по домену</a:t>
            </a:r>
            <a:endParaRPr lang="en-US" sz="1650" dirty="0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25B5FA73-A83A-693A-A236-D3B5776631F9}"/>
              </a:ext>
            </a:extLst>
          </p:cNvPr>
          <p:cNvSpPr/>
          <p:nvPr/>
        </p:nvSpPr>
        <p:spPr>
          <a:xfrm>
            <a:off x="1480704" y="2703215"/>
            <a:ext cx="4784705" cy="343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Только рынки </a:t>
            </a:r>
            <a:r>
              <a:rPr lang="en-US" sz="1350" dirty="0" err="1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категории</a:t>
            </a:r>
            <a:r>
              <a:rPr lang="en-US" sz="135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ru-RU" sz="135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культура</a:t>
            </a:r>
            <a:r>
              <a:rPr lang="en-US" sz="135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кино, музыка, телевидение, награды, </a:t>
            </a:r>
            <a:r>
              <a:rPr lang="ru-RU" sz="135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игры</a:t>
            </a:r>
            <a:r>
              <a:rPr lang="en-US" sz="135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</a:t>
            </a:r>
            <a:endParaRPr lang="en-US" sz="1350" dirty="0"/>
          </a:p>
        </p:txBody>
      </p:sp>
      <p:pic>
        <p:nvPicPr>
          <p:cNvPr id="21" name="Image 1" descr="preencoded.png">
            <a:extLst>
              <a:ext uri="{FF2B5EF4-FFF2-40B4-BE49-F238E27FC236}">
                <a16:creationId xmlns:a16="http://schemas.microsoft.com/office/drawing/2014/main" id="{C4526B15-D2E6-D8E3-3CFA-8A615DAC0E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1846" y="3410049"/>
            <a:ext cx="5854554" cy="1112838"/>
          </a:xfrm>
          <a:prstGeom prst="rect">
            <a:avLst/>
          </a:prstGeom>
        </p:spPr>
      </p:pic>
      <p:sp>
        <p:nvSpPr>
          <p:cNvPr id="22" name="Text 5">
            <a:extLst>
              <a:ext uri="{FF2B5EF4-FFF2-40B4-BE49-F238E27FC236}">
                <a16:creationId xmlns:a16="http://schemas.microsoft.com/office/drawing/2014/main" id="{50C988E1-98FA-6E64-67A9-4546F4AA1B0D}"/>
              </a:ext>
            </a:extLst>
          </p:cNvPr>
          <p:cNvSpPr/>
          <p:nvPr/>
        </p:nvSpPr>
        <p:spPr>
          <a:xfrm>
            <a:off x="835798" y="3837484"/>
            <a:ext cx="257962" cy="2579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2</a:t>
            </a:r>
            <a:endParaRPr lang="en-US" sz="2000" dirty="0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6F1AE536-3710-A3F4-7B99-995351B92920}"/>
              </a:ext>
            </a:extLst>
          </p:cNvPr>
          <p:cNvSpPr/>
          <p:nvPr/>
        </p:nvSpPr>
        <p:spPr>
          <a:xfrm>
            <a:off x="1480704" y="3601045"/>
            <a:ext cx="2367598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Фильтрация по статусу</a:t>
            </a:r>
            <a:endParaRPr lang="en-US" sz="1650" dirty="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FBAF5643-79AD-6B65-E410-D4F67F57D56A}"/>
              </a:ext>
            </a:extLst>
          </p:cNvPr>
          <p:cNvSpPr/>
          <p:nvPr/>
        </p:nvSpPr>
        <p:spPr>
          <a:xfrm>
            <a:off x="1480704" y="3987998"/>
            <a:ext cx="4784705" cy="343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 err="1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Только</a:t>
            </a:r>
            <a:r>
              <a:rPr lang="en-US" sz="135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ru-RU" sz="135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закрытые</a:t>
            </a:r>
            <a:r>
              <a:rPr lang="en-US" sz="135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рынки с однозначным исходом. Открытые и спорные исключались.</a:t>
            </a:r>
            <a:endParaRPr lang="en-US" sz="1350" dirty="0"/>
          </a:p>
        </p:txBody>
      </p:sp>
      <p:pic>
        <p:nvPicPr>
          <p:cNvPr id="25" name="Image 2" descr="preencoded.png">
            <a:extLst>
              <a:ext uri="{FF2B5EF4-FFF2-40B4-BE49-F238E27FC236}">
                <a16:creationId xmlns:a16="http://schemas.microsoft.com/office/drawing/2014/main" id="{12D5C62D-9E3C-D4BC-CEA1-8D2EA23938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1846" y="4694833"/>
            <a:ext cx="5854554" cy="1112838"/>
          </a:xfrm>
          <a:prstGeom prst="rect">
            <a:avLst/>
          </a:prstGeom>
        </p:spPr>
      </p:pic>
      <p:sp>
        <p:nvSpPr>
          <p:cNvPr id="26" name="Text 8">
            <a:extLst>
              <a:ext uri="{FF2B5EF4-FFF2-40B4-BE49-F238E27FC236}">
                <a16:creationId xmlns:a16="http://schemas.microsoft.com/office/drawing/2014/main" id="{10A3AEDD-9F97-A675-1352-44D40E31FDE9}"/>
              </a:ext>
            </a:extLst>
          </p:cNvPr>
          <p:cNvSpPr/>
          <p:nvPr/>
        </p:nvSpPr>
        <p:spPr>
          <a:xfrm>
            <a:off x="835798" y="5122267"/>
            <a:ext cx="257962" cy="2579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3</a:t>
            </a:r>
            <a:endParaRPr lang="en-US" sz="2000" dirty="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3C038976-A135-ED24-CA50-3D6006D98A0D}"/>
              </a:ext>
            </a:extLst>
          </p:cNvPr>
          <p:cNvSpPr/>
          <p:nvPr/>
        </p:nvSpPr>
        <p:spPr>
          <a:xfrm>
            <a:off x="1480704" y="4885829"/>
            <a:ext cx="2149719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Бинарные рынки</a:t>
            </a:r>
            <a:endParaRPr lang="en-US" sz="1650" dirty="0"/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965F8509-29E9-BE38-9AEA-CA2EB193E9F5}"/>
              </a:ext>
            </a:extLst>
          </p:cNvPr>
          <p:cNvSpPr/>
          <p:nvPr/>
        </p:nvSpPr>
        <p:spPr>
          <a:xfrm>
            <a:off x="1480704" y="5272782"/>
            <a:ext cx="4784705" cy="343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Только Yes/No формат. Это обеспечивает единообразие label-пространства для обучения.</a:t>
            </a:r>
            <a:endParaRPr lang="en-US" sz="1350" dirty="0"/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289A75CD-625A-9DD5-A666-A270E4620624}"/>
              </a:ext>
            </a:extLst>
          </p:cNvPr>
          <p:cNvSpPr/>
          <p:nvPr/>
        </p:nvSpPr>
        <p:spPr>
          <a:xfrm>
            <a:off x="6882236" y="1716782"/>
            <a:ext cx="2839272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212423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Preprocessing pipeline</a:t>
            </a:r>
            <a:endParaRPr lang="en-US" sz="1650" dirty="0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F8F5BA8A-5368-91D1-3649-F02C02FDEC69}"/>
              </a:ext>
            </a:extLst>
          </p:cNvPr>
          <p:cNvSpPr/>
          <p:nvPr/>
        </p:nvSpPr>
        <p:spPr>
          <a:xfrm>
            <a:off x="10920842" y="2182415"/>
            <a:ext cx="1006632" cy="343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Нормализация</a:t>
            </a:r>
            <a:endParaRPr lang="en-US" sz="1100" dirty="0"/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8BBCFCE0-D674-D129-D5F9-2C501053F768}"/>
              </a:ext>
            </a:extLst>
          </p:cNvPr>
          <p:cNvSpPr/>
          <p:nvPr/>
        </p:nvSpPr>
        <p:spPr>
          <a:xfrm>
            <a:off x="9721508" y="2125266"/>
            <a:ext cx="896029" cy="343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Бинарный фильтр</a:t>
            </a:r>
            <a:endParaRPr lang="en-US" sz="1100" dirty="0"/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42D0D803-15DD-3B17-BD58-6FFA17805FA2}"/>
              </a:ext>
            </a:extLst>
          </p:cNvPr>
          <p:cNvSpPr/>
          <p:nvPr/>
        </p:nvSpPr>
        <p:spPr>
          <a:xfrm>
            <a:off x="8795035" y="2125266"/>
            <a:ext cx="839059" cy="343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Статус: resolved</a:t>
            </a:r>
            <a:endParaRPr lang="en-US" sz="1100" dirty="0"/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362D7CC6-D464-8279-3858-DE8684743F77}"/>
              </a:ext>
            </a:extLst>
          </p:cNvPr>
          <p:cNvSpPr/>
          <p:nvPr/>
        </p:nvSpPr>
        <p:spPr>
          <a:xfrm>
            <a:off x="7896122" y="2125266"/>
            <a:ext cx="811500" cy="325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Домен: culture</a:t>
            </a:r>
            <a:endParaRPr lang="en-US" sz="1100" dirty="0"/>
          </a:p>
        </p:txBody>
      </p:sp>
      <p:sp>
        <p:nvSpPr>
          <p:cNvPr id="34" name="Text 16">
            <a:extLst>
              <a:ext uri="{FF2B5EF4-FFF2-40B4-BE49-F238E27FC236}">
                <a16:creationId xmlns:a16="http://schemas.microsoft.com/office/drawing/2014/main" id="{D547E2B6-CFC8-08D0-33FA-89EB5B52B2F8}"/>
              </a:ext>
            </a:extLst>
          </p:cNvPr>
          <p:cNvSpPr/>
          <p:nvPr/>
        </p:nvSpPr>
        <p:spPr>
          <a:xfrm>
            <a:off x="6882236" y="2125266"/>
            <a:ext cx="778367" cy="280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Сырые данные</a:t>
            </a:r>
            <a:endParaRPr lang="en-US" sz="1100" dirty="0"/>
          </a:p>
        </p:txBody>
      </p:sp>
      <p:pic>
        <p:nvPicPr>
          <p:cNvPr id="35" name="Image 4" descr="preencoded.png">
            <a:extLst>
              <a:ext uri="{FF2B5EF4-FFF2-40B4-BE49-F238E27FC236}">
                <a16:creationId xmlns:a16="http://schemas.microsoft.com/office/drawing/2014/main" id="{B89B85D9-03B7-D6BD-C2ED-B938B4AD8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767" y="3089246"/>
            <a:ext cx="214902" cy="171946"/>
          </a:xfrm>
          <a:prstGeom prst="rect">
            <a:avLst/>
          </a:prstGeom>
        </p:spPr>
      </p:pic>
      <p:sp>
        <p:nvSpPr>
          <p:cNvPr id="36" name="Text 18">
            <a:extLst>
              <a:ext uri="{FF2B5EF4-FFF2-40B4-BE49-F238E27FC236}">
                <a16:creationId xmlns:a16="http://schemas.microsoft.com/office/drawing/2014/main" id="{B21AC4E3-02CF-521B-F8F9-097108AB106D}"/>
              </a:ext>
            </a:extLst>
          </p:cNvPr>
          <p:cNvSpPr/>
          <p:nvPr/>
        </p:nvSpPr>
        <p:spPr>
          <a:xfrm>
            <a:off x="7467612" y="3072081"/>
            <a:ext cx="3983136" cy="343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Поля: question, prediction_date, resolution_date, answer, resolution_reasoning</a:t>
            </a:r>
            <a:endParaRPr lang="en-US" sz="1400" dirty="0"/>
          </a:p>
        </p:txBody>
      </p:sp>
      <p:sp>
        <p:nvSpPr>
          <p:cNvPr id="37" name="Стрелка: вправо 36">
            <a:extLst>
              <a:ext uri="{FF2B5EF4-FFF2-40B4-BE49-F238E27FC236}">
                <a16:creationId xmlns:a16="http://schemas.microsoft.com/office/drawing/2014/main" id="{13817AC0-DEBD-6E79-58B7-D304B12D6441}"/>
              </a:ext>
            </a:extLst>
          </p:cNvPr>
          <p:cNvSpPr/>
          <p:nvPr/>
        </p:nvSpPr>
        <p:spPr>
          <a:xfrm>
            <a:off x="7660603" y="2184400"/>
            <a:ext cx="235519" cy="1137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Стрелка: вправо 37">
            <a:extLst>
              <a:ext uri="{FF2B5EF4-FFF2-40B4-BE49-F238E27FC236}">
                <a16:creationId xmlns:a16="http://schemas.microsoft.com/office/drawing/2014/main" id="{E0B288DA-95EE-D64C-2883-32E06A7490F5}"/>
              </a:ext>
            </a:extLst>
          </p:cNvPr>
          <p:cNvSpPr/>
          <p:nvPr/>
        </p:nvSpPr>
        <p:spPr>
          <a:xfrm>
            <a:off x="8618710" y="2184400"/>
            <a:ext cx="235519" cy="1137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Стрелка: вправо 38">
            <a:extLst>
              <a:ext uri="{FF2B5EF4-FFF2-40B4-BE49-F238E27FC236}">
                <a16:creationId xmlns:a16="http://schemas.microsoft.com/office/drawing/2014/main" id="{2DC0019D-BBA4-1E1B-A8D7-53C9AD9B69ED}"/>
              </a:ext>
            </a:extLst>
          </p:cNvPr>
          <p:cNvSpPr/>
          <p:nvPr/>
        </p:nvSpPr>
        <p:spPr>
          <a:xfrm>
            <a:off x="9550227" y="2180824"/>
            <a:ext cx="235519" cy="1137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Стрелка: вправо 39">
            <a:extLst>
              <a:ext uri="{FF2B5EF4-FFF2-40B4-BE49-F238E27FC236}">
                <a16:creationId xmlns:a16="http://schemas.microsoft.com/office/drawing/2014/main" id="{CD4759FE-3C24-1848-31CA-FA120E42F3BB}"/>
              </a:ext>
            </a:extLst>
          </p:cNvPr>
          <p:cNvSpPr/>
          <p:nvPr/>
        </p:nvSpPr>
        <p:spPr>
          <a:xfrm>
            <a:off x="10582509" y="2180824"/>
            <a:ext cx="235519" cy="1137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24B233F5-E12A-3E03-8F86-376E32549A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4495" y="4026336"/>
            <a:ext cx="3711141" cy="2474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680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>
            <a:extLst>
              <a:ext uri="{FF2B5EF4-FFF2-40B4-BE49-F238E27FC236}">
                <a16:creationId xmlns:a16="http://schemas.microsoft.com/office/drawing/2014/main" id="{6C107616-D65F-CBE1-DF8A-5A133871ACA1}"/>
              </a:ext>
            </a:extLst>
          </p:cNvPr>
          <p:cNvSpPr/>
          <p:nvPr/>
        </p:nvSpPr>
        <p:spPr>
          <a:xfrm>
            <a:off x="564243" y="553244"/>
            <a:ext cx="3661080" cy="262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200" dirty="0" err="1">
                <a:solidFill>
                  <a:schemeClr val="accent1"/>
                </a:solidFill>
                <a:latin typeface="Times New Roman" panose="02020603050405020304" pitchFamily="18" charset="0"/>
                <a:ea typeface="Spectral SemiBold" pitchFamily="34" charset="-122"/>
                <a:cs typeface="Times New Roman" panose="02020603050405020304" pitchFamily="18" charset="0"/>
              </a:rPr>
              <a:t>Генерация</a:t>
            </a:r>
            <a:r>
              <a:rPr lang="en-US" sz="3200" dirty="0">
                <a:solidFill>
                  <a:schemeClr val="accent1"/>
                </a:solidFill>
                <a:latin typeface="Times New Roman" panose="02020603050405020304" pitchFamily="18" charset="0"/>
                <a:ea typeface="Spectral SemiBold" pitchFamily="34" charset="-122"/>
                <a:cs typeface="Times New Roman" panose="02020603050405020304" pitchFamily="18" charset="0"/>
              </a:rPr>
              <a:t> </a:t>
            </a:r>
            <a:r>
              <a:rPr lang="ru-RU" sz="3200" dirty="0">
                <a:solidFill>
                  <a:schemeClr val="accent1"/>
                </a:solidFill>
                <a:latin typeface="Times New Roman" panose="02020603050405020304" pitchFamily="18" charset="0"/>
                <a:ea typeface="Spectral SemiBold" pitchFamily="34" charset="-122"/>
                <a:cs typeface="Times New Roman" panose="02020603050405020304" pitchFamily="18" charset="0"/>
              </a:rPr>
              <a:t>синтетических данных</a:t>
            </a:r>
            <a:endParaRPr lang="en-US" sz="32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80AF449F-E369-CE22-5EF7-B8CE1B9E3A79}"/>
              </a:ext>
            </a:extLst>
          </p:cNvPr>
          <p:cNvSpPr/>
          <p:nvPr/>
        </p:nvSpPr>
        <p:spPr>
          <a:xfrm>
            <a:off x="902749" y="1137341"/>
            <a:ext cx="2858619" cy="130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dirty="0" err="1">
                <a:solidFill>
                  <a:srgbClr val="212423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Зачем</a:t>
            </a:r>
            <a:r>
              <a:rPr lang="en-US" dirty="0">
                <a:solidFill>
                  <a:srgbClr val="212423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 </a:t>
            </a:r>
            <a:r>
              <a:rPr lang="en-US" dirty="0" err="1">
                <a:solidFill>
                  <a:srgbClr val="212423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нужн</a:t>
            </a:r>
            <a:r>
              <a:rPr lang="ru-RU" dirty="0">
                <a:solidFill>
                  <a:srgbClr val="212423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а:</a:t>
            </a:r>
            <a:endParaRPr lang="en-US" dirty="0"/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D5CAFA7E-D67A-3FF6-F851-1A3B9A28C8DB}"/>
              </a:ext>
            </a:extLst>
          </p:cNvPr>
          <p:cNvSpPr/>
          <p:nvPr/>
        </p:nvSpPr>
        <p:spPr>
          <a:xfrm>
            <a:off x="564243" y="1492745"/>
            <a:ext cx="235738" cy="235744"/>
          </a:xfrm>
          <a:prstGeom prst="roundRect">
            <a:avLst>
              <a:gd name="adj" fmla="val 6669"/>
            </a:avLst>
          </a:prstGeom>
          <a:solidFill>
            <a:srgbClr val="E4E5E5"/>
          </a:solidFill>
          <a:ln/>
        </p:spPr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103E05D3-5875-82DC-706D-B832554DE1E9}"/>
              </a:ext>
            </a:extLst>
          </p:cNvPr>
          <p:cNvSpPr/>
          <p:nvPr/>
        </p:nvSpPr>
        <p:spPr>
          <a:xfrm>
            <a:off x="868249" y="1567449"/>
            <a:ext cx="1890169" cy="130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Покрытие редких поддоменов</a:t>
            </a:r>
            <a:endParaRPr lang="en-US" sz="140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CA98C5FE-C378-A3BB-3503-E5E9AD3EBE46}"/>
              </a:ext>
            </a:extLst>
          </p:cNvPr>
          <p:cNvSpPr/>
          <p:nvPr/>
        </p:nvSpPr>
        <p:spPr>
          <a:xfrm>
            <a:off x="863777" y="1935449"/>
            <a:ext cx="5104280" cy="289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ru-RU" sz="11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Реальные данные</a:t>
            </a:r>
            <a:r>
              <a:rPr lang="en-US" sz="11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неравномерно покрывает домен; </a:t>
            </a:r>
            <a:endParaRPr lang="ru-RU" sz="1100" dirty="0">
              <a:solidFill>
                <a:srgbClr val="4D4D4D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 algn="l">
              <a:buNone/>
            </a:pPr>
            <a:r>
              <a:rPr lang="ru-RU" sz="11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дополнительные</a:t>
            </a:r>
            <a:r>
              <a:rPr lang="en-US" sz="11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100" dirty="0" err="1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устраня</a:t>
            </a:r>
            <a:r>
              <a:rPr lang="ru-RU" sz="11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ю</a:t>
            </a:r>
            <a:r>
              <a:rPr lang="en-US" sz="11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т пробелы</a:t>
            </a:r>
            <a:endParaRPr lang="en-US" sz="1100" dirty="0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7DCFDEFF-9330-F44F-5E04-9B94406C3AFE}"/>
              </a:ext>
            </a:extLst>
          </p:cNvPr>
          <p:cNvSpPr/>
          <p:nvPr/>
        </p:nvSpPr>
        <p:spPr>
          <a:xfrm>
            <a:off x="564243" y="2316261"/>
            <a:ext cx="235738" cy="235744"/>
          </a:xfrm>
          <a:prstGeom prst="roundRect">
            <a:avLst>
              <a:gd name="adj" fmla="val 6669"/>
            </a:avLst>
          </a:prstGeom>
          <a:solidFill>
            <a:srgbClr val="E4E5E5"/>
          </a:solidFill>
          <a:ln/>
        </p:spPr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44C3AE20-18AD-87DC-D579-D91F49BA7D92}"/>
              </a:ext>
            </a:extLst>
          </p:cNvPr>
          <p:cNvSpPr/>
          <p:nvPr/>
        </p:nvSpPr>
        <p:spPr>
          <a:xfrm>
            <a:off x="863777" y="2368648"/>
            <a:ext cx="1805042" cy="130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Разнообразие формулировок</a:t>
            </a:r>
            <a:endParaRPr lang="en-US" sz="1400" dirty="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7F60DCC7-FB5D-A0A2-A2B6-5C5E7CBBDC85}"/>
              </a:ext>
            </a:extLst>
          </p:cNvPr>
          <p:cNvSpPr/>
          <p:nvPr/>
        </p:nvSpPr>
        <p:spPr>
          <a:xfrm>
            <a:off x="863777" y="2772036"/>
            <a:ext cx="5104280" cy="84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67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Генерация вопросов с разной лексикой </a:t>
            </a:r>
            <a:r>
              <a:rPr lang="en-US" sz="1100" dirty="0" err="1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улучшает</a:t>
            </a:r>
            <a:r>
              <a:rPr lang="en-US" sz="11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ru-RU" sz="11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устойчивость</a:t>
            </a:r>
            <a:r>
              <a:rPr lang="en-US" sz="11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модели</a:t>
            </a:r>
            <a:endParaRPr lang="en-US" sz="1100" dirty="0"/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140EB372-DC61-D571-B251-D92926D35EDF}"/>
              </a:ext>
            </a:extLst>
          </p:cNvPr>
          <p:cNvSpPr/>
          <p:nvPr/>
        </p:nvSpPr>
        <p:spPr>
          <a:xfrm>
            <a:off x="564243" y="3158672"/>
            <a:ext cx="235738" cy="235744"/>
          </a:xfrm>
          <a:prstGeom prst="roundRect">
            <a:avLst>
              <a:gd name="adj" fmla="val 6669"/>
            </a:avLst>
          </a:prstGeom>
          <a:solidFill>
            <a:srgbClr val="E4E5E5"/>
          </a:solidFill>
          <a:ln/>
        </p:spPr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F34520C-81BB-701F-C1FF-CF995205E6D1}"/>
              </a:ext>
            </a:extLst>
          </p:cNvPr>
          <p:cNvSpPr/>
          <p:nvPr/>
        </p:nvSpPr>
        <p:spPr>
          <a:xfrm>
            <a:off x="863777" y="3211059"/>
            <a:ext cx="2060623" cy="130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Контролируемый баланс классов</a:t>
            </a:r>
            <a:endParaRPr lang="en-US" sz="1400" dirty="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1F2A775-4452-6F64-4478-CFEE0A5DBC67}"/>
              </a:ext>
            </a:extLst>
          </p:cNvPr>
          <p:cNvSpPr/>
          <p:nvPr/>
        </p:nvSpPr>
        <p:spPr>
          <a:xfrm>
            <a:off x="863777" y="3606374"/>
            <a:ext cx="5104280" cy="84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67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Возможность регулировать соотношение Yes/No исходов в датасете</a:t>
            </a:r>
            <a:endParaRPr lang="en-US" sz="1100" dirty="0"/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50F91575-0F53-B2DD-BA17-04C2A63F4D04}"/>
              </a:ext>
            </a:extLst>
          </p:cNvPr>
          <p:cNvSpPr/>
          <p:nvPr/>
        </p:nvSpPr>
        <p:spPr>
          <a:xfrm>
            <a:off x="564243" y="3853501"/>
            <a:ext cx="5403814" cy="7838"/>
          </a:xfrm>
          <a:prstGeom prst="rect">
            <a:avLst/>
          </a:prstGeom>
          <a:solidFill>
            <a:srgbClr val="4D4D4D">
              <a:alpha val="50000"/>
            </a:srgbClr>
          </a:solidFill>
          <a:ln/>
        </p:spPr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AD81784C-AA2F-8A55-A96D-999BA7A2916B}"/>
              </a:ext>
            </a:extLst>
          </p:cNvPr>
          <p:cNvSpPr/>
          <p:nvPr/>
        </p:nvSpPr>
        <p:spPr>
          <a:xfrm>
            <a:off x="4554628" y="4474268"/>
            <a:ext cx="2242883" cy="130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212423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Покрываемые поддомены</a:t>
            </a:r>
            <a:endParaRPr lang="en-US" sz="2000" dirty="0"/>
          </a:p>
        </p:txBody>
      </p:sp>
      <p:sp>
        <p:nvSpPr>
          <p:cNvPr id="22" name="Shape 13">
            <a:extLst>
              <a:ext uri="{FF2B5EF4-FFF2-40B4-BE49-F238E27FC236}">
                <a16:creationId xmlns:a16="http://schemas.microsoft.com/office/drawing/2014/main" id="{525E4085-B451-2EF1-95D0-1511FB287BAE}"/>
              </a:ext>
            </a:extLst>
          </p:cNvPr>
          <p:cNvSpPr/>
          <p:nvPr/>
        </p:nvSpPr>
        <p:spPr>
          <a:xfrm>
            <a:off x="665959" y="5015110"/>
            <a:ext cx="419189" cy="628749"/>
          </a:xfrm>
          <a:prstGeom prst="roundRect">
            <a:avLst>
              <a:gd name="adj" fmla="val 360016"/>
            </a:avLst>
          </a:prstGeom>
          <a:solidFill>
            <a:srgbClr val="E4E5E5"/>
          </a:solidFill>
          <a:ln/>
        </p:spPr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C8D4C668-6E11-CB5D-9FC5-2619F4BB97FD}"/>
              </a:ext>
            </a:extLst>
          </p:cNvPr>
          <p:cNvSpPr/>
          <p:nvPr/>
        </p:nvSpPr>
        <p:spPr>
          <a:xfrm>
            <a:off x="1148944" y="5119885"/>
            <a:ext cx="1309952" cy="130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dirty="0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Movies / TV</a:t>
            </a:r>
            <a:endParaRPr lang="en-US" dirty="0"/>
          </a:p>
        </p:txBody>
      </p:sp>
      <p:sp>
        <p:nvSpPr>
          <p:cNvPr id="24" name="Shape 15">
            <a:extLst>
              <a:ext uri="{FF2B5EF4-FFF2-40B4-BE49-F238E27FC236}">
                <a16:creationId xmlns:a16="http://schemas.microsoft.com/office/drawing/2014/main" id="{91B3C9FC-00B6-E6C2-B5D7-FE78F5F40932}"/>
              </a:ext>
            </a:extLst>
          </p:cNvPr>
          <p:cNvSpPr/>
          <p:nvPr/>
        </p:nvSpPr>
        <p:spPr>
          <a:xfrm>
            <a:off x="3031777" y="5015110"/>
            <a:ext cx="419189" cy="628749"/>
          </a:xfrm>
          <a:prstGeom prst="roundRect">
            <a:avLst>
              <a:gd name="adj" fmla="val 360016"/>
            </a:avLst>
          </a:prstGeom>
          <a:solidFill>
            <a:srgbClr val="E4E5E5"/>
          </a:solidFill>
          <a:ln/>
        </p:spPr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2E37D457-30FE-F363-8CE3-A40BC052B3F6}"/>
              </a:ext>
            </a:extLst>
          </p:cNvPr>
          <p:cNvSpPr/>
          <p:nvPr/>
        </p:nvSpPr>
        <p:spPr>
          <a:xfrm>
            <a:off x="3533115" y="5131789"/>
            <a:ext cx="1309952" cy="130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dirty="0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Music</a:t>
            </a:r>
            <a:endParaRPr lang="en-US" dirty="0"/>
          </a:p>
        </p:txBody>
      </p:sp>
      <p:sp>
        <p:nvSpPr>
          <p:cNvPr id="26" name="Shape 17">
            <a:extLst>
              <a:ext uri="{FF2B5EF4-FFF2-40B4-BE49-F238E27FC236}">
                <a16:creationId xmlns:a16="http://schemas.microsoft.com/office/drawing/2014/main" id="{ECBB1FAE-8411-9F54-E2CF-6EE9B87BF36D}"/>
              </a:ext>
            </a:extLst>
          </p:cNvPr>
          <p:cNvSpPr/>
          <p:nvPr/>
        </p:nvSpPr>
        <p:spPr>
          <a:xfrm>
            <a:off x="5613015" y="5015110"/>
            <a:ext cx="419189" cy="628749"/>
          </a:xfrm>
          <a:prstGeom prst="roundRect">
            <a:avLst>
              <a:gd name="adj" fmla="val 360016"/>
            </a:avLst>
          </a:prstGeom>
          <a:solidFill>
            <a:srgbClr val="E4E5E5"/>
          </a:solidFill>
          <a:ln/>
        </p:spPr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E1B31E63-9A26-DF8B-485F-BD88C14CCDC0}"/>
              </a:ext>
            </a:extLst>
          </p:cNvPr>
          <p:cNvSpPr/>
          <p:nvPr/>
        </p:nvSpPr>
        <p:spPr>
          <a:xfrm>
            <a:off x="6096000" y="5119885"/>
            <a:ext cx="1309952" cy="130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dirty="0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Awards</a:t>
            </a:r>
            <a:endParaRPr lang="en-US" dirty="0"/>
          </a:p>
        </p:txBody>
      </p:sp>
      <p:sp>
        <p:nvSpPr>
          <p:cNvPr id="28" name="Shape 19">
            <a:extLst>
              <a:ext uri="{FF2B5EF4-FFF2-40B4-BE49-F238E27FC236}">
                <a16:creationId xmlns:a16="http://schemas.microsoft.com/office/drawing/2014/main" id="{53229601-2F2F-D979-5AF5-C9438D447D70}"/>
              </a:ext>
            </a:extLst>
          </p:cNvPr>
          <p:cNvSpPr/>
          <p:nvPr/>
        </p:nvSpPr>
        <p:spPr>
          <a:xfrm>
            <a:off x="8134037" y="5016302"/>
            <a:ext cx="419189" cy="628749"/>
          </a:xfrm>
          <a:prstGeom prst="roundRect">
            <a:avLst>
              <a:gd name="adj" fmla="val 360016"/>
            </a:avLst>
          </a:prstGeom>
          <a:solidFill>
            <a:srgbClr val="E4E5E5"/>
          </a:solidFill>
          <a:ln/>
        </p:spPr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DA338218-1AFC-81B9-4203-F8A56704CD45}"/>
              </a:ext>
            </a:extLst>
          </p:cNvPr>
          <p:cNvSpPr/>
          <p:nvPr/>
        </p:nvSpPr>
        <p:spPr>
          <a:xfrm>
            <a:off x="8617022" y="5121077"/>
            <a:ext cx="1309952" cy="130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dirty="0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Gaming</a:t>
            </a:r>
            <a:endParaRPr lang="en-US" dirty="0"/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C7B95629-FA95-EFFC-CF67-CE296F549AA3}"/>
              </a:ext>
            </a:extLst>
          </p:cNvPr>
          <p:cNvSpPr/>
          <p:nvPr/>
        </p:nvSpPr>
        <p:spPr>
          <a:xfrm>
            <a:off x="10400147" y="5016302"/>
            <a:ext cx="419189" cy="628749"/>
          </a:xfrm>
          <a:prstGeom prst="roundRect">
            <a:avLst>
              <a:gd name="adj" fmla="val 360016"/>
            </a:avLst>
          </a:prstGeom>
          <a:solidFill>
            <a:srgbClr val="E4E5E5"/>
          </a:solidFill>
          <a:ln/>
        </p:spPr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F9EA6325-27E9-F3B7-4CB9-FA22C8EE61EB}"/>
              </a:ext>
            </a:extLst>
          </p:cNvPr>
          <p:cNvSpPr/>
          <p:nvPr/>
        </p:nvSpPr>
        <p:spPr>
          <a:xfrm>
            <a:off x="10883132" y="5121077"/>
            <a:ext cx="1309952" cy="130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dirty="0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Creators</a:t>
            </a:r>
            <a:endParaRPr lang="en-US" dirty="0"/>
          </a:p>
        </p:txBody>
      </p:sp>
      <p:sp>
        <p:nvSpPr>
          <p:cNvPr id="32" name="Text 23">
            <a:extLst>
              <a:ext uri="{FF2B5EF4-FFF2-40B4-BE49-F238E27FC236}">
                <a16:creationId xmlns:a16="http://schemas.microsoft.com/office/drawing/2014/main" id="{BC65CBE0-C0CB-1A07-3BAC-61C116E47C47}"/>
              </a:ext>
            </a:extLst>
          </p:cNvPr>
          <p:cNvSpPr/>
          <p:nvPr/>
        </p:nvSpPr>
        <p:spPr>
          <a:xfrm>
            <a:off x="7728588" y="843756"/>
            <a:ext cx="2394684" cy="262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 err="1">
                <a:solidFill>
                  <a:srgbClr val="212423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Примеры</a:t>
            </a:r>
            <a:r>
              <a:rPr lang="en-US" sz="1400" dirty="0">
                <a:solidFill>
                  <a:srgbClr val="212423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 </a:t>
            </a:r>
            <a:r>
              <a:rPr lang="en-US" sz="1400" dirty="0" err="1">
                <a:solidFill>
                  <a:srgbClr val="212423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вопросов</a:t>
            </a:r>
            <a:endParaRPr lang="en-US" sz="1400" dirty="0"/>
          </a:p>
        </p:txBody>
      </p:sp>
      <p:sp>
        <p:nvSpPr>
          <p:cNvPr id="43" name="Shape 35">
            <a:extLst>
              <a:ext uri="{FF2B5EF4-FFF2-40B4-BE49-F238E27FC236}">
                <a16:creationId xmlns:a16="http://schemas.microsoft.com/office/drawing/2014/main" id="{86F6097F-69CF-0AD0-77F3-573BC58A0814}"/>
              </a:ext>
            </a:extLst>
          </p:cNvPr>
          <p:cNvSpPr/>
          <p:nvPr/>
        </p:nvSpPr>
        <p:spPr>
          <a:xfrm>
            <a:off x="6269190" y="3784786"/>
            <a:ext cx="5403814" cy="467817"/>
          </a:xfrm>
          <a:prstGeom prst="roundRect">
            <a:avLst>
              <a:gd name="adj" fmla="val 4682"/>
            </a:avLst>
          </a:prstGeom>
          <a:solidFill>
            <a:srgbClr val="B6D6FC"/>
          </a:solidFill>
          <a:ln/>
        </p:spPr>
      </p:sp>
      <p:pic>
        <p:nvPicPr>
          <p:cNvPr id="44" name="Image 0" descr="preencoded.png">
            <a:extLst>
              <a:ext uri="{FF2B5EF4-FFF2-40B4-BE49-F238E27FC236}">
                <a16:creationId xmlns:a16="http://schemas.microsoft.com/office/drawing/2014/main" id="{744194BF-4A18-8ADD-8B3B-5431FEED1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5440" y="3892604"/>
            <a:ext cx="130965" cy="104775"/>
          </a:xfrm>
          <a:prstGeom prst="rect">
            <a:avLst/>
          </a:prstGeom>
        </p:spPr>
      </p:pic>
      <p:sp>
        <p:nvSpPr>
          <p:cNvPr id="45" name="Text 36">
            <a:extLst>
              <a:ext uri="{FF2B5EF4-FFF2-40B4-BE49-F238E27FC236}">
                <a16:creationId xmlns:a16="http://schemas.microsoft.com/office/drawing/2014/main" id="{3D7D9A32-CAD8-BBA7-625D-71BCE6E85B15}"/>
              </a:ext>
            </a:extLst>
          </p:cNvPr>
          <p:cNvSpPr/>
          <p:nvPr/>
        </p:nvSpPr>
        <p:spPr>
          <a:xfrm>
            <a:off x="6601178" y="3845277"/>
            <a:ext cx="5026579" cy="34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 err="1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Формат</a:t>
            </a:r>
            <a:r>
              <a:rPr lang="en-US" sz="11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ru-RU" sz="11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сгенерированных </a:t>
            </a:r>
            <a:r>
              <a:rPr lang="en-US" sz="1100" dirty="0" err="1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примеров</a:t>
            </a:r>
            <a:r>
              <a:rPr lang="en-US" sz="11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идентичен</a:t>
            </a:r>
            <a:r>
              <a:rPr lang="en-US" sz="11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ru-RU" sz="11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реальным</a:t>
            </a:r>
            <a:r>
              <a:rPr lang="en-US" sz="11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вопрос, дата, исход, </a:t>
            </a:r>
            <a:r>
              <a:rPr lang="ru-RU" sz="11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причины</a:t>
            </a:r>
            <a:r>
              <a:rPr lang="en-US" sz="11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для бесшовного объединения в датасете.</a:t>
            </a:r>
            <a:endParaRPr lang="en-US" sz="1100" dirty="0"/>
          </a:p>
        </p:txBody>
      </p:sp>
      <p:graphicFrame>
        <p:nvGraphicFramePr>
          <p:cNvPr id="46" name="Таблица 45">
            <a:extLst>
              <a:ext uri="{FF2B5EF4-FFF2-40B4-BE49-F238E27FC236}">
                <a16:creationId xmlns:a16="http://schemas.microsoft.com/office/drawing/2014/main" id="{FFE3D42E-3315-3BA7-61EB-BCB6B1FD24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0842582"/>
              </p:ext>
            </p:extLst>
          </p:nvPr>
        </p:nvGraphicFramePr>
        <p:xfrm>
          <a:off x="6223944" y="1224351"/>
          <a:ext cx="5449060" cy="2286403"/>
        </p:xfrm>
        <a:graphic>
          <a:graphicData uri="http://schemas.openxmlformats.org/drawingml/2006/table">
            <a:tbl>
              <a:tblPr/>
              <a:tblGrid>
                <a:gridCol w="1322262">
                  <a:extLst>
                    <a:ext uri="{9D8B030D-6E8A-4147-A177-3AD203B41FA5}">
                      <a16:colId xmlns:a16="http://schemas.microsoft.com/office/drawing/2014/main" val="944049844"/>
                    </a:ext>
                  </a:extLst>
                </a:gridCol>
                <a:gridCol w="4126798">
                  <a:extLst>
                    <a:ext uri="{9D8B030D-6E8A-4147-A177-3AD203B41FA5}">
                      <a16:colId xmlns:a16="http://schemas.microsoft.com/office/drawing/2014/main" val="1331584649"/>
                    </a:ext>
                  </a:extLst>
                </a:gridCol>
              </a:tblGrid>
              <a:tr h="2582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Поддомен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Пример вопроса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3450174"/>
                  </a:ext>
                </a:extLst>
              </a:tr>
              <a:tr h="451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 err="1"/>
                        <a:t>Movies</a:t>
                      </a:r>
                      <a:endParaRPr lang="ru-RU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Will the sequel to [Film X] gross over $200M in its opening weekend?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356656"/>
                  </a:ext>
                </a:extLst>
              </a:tr>
              <a:tr h="451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Awards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 err="1"/>
                        <a:t>Will</a:t>
                      </a:r>
                      <a:r>
                        <a:rPr lang="ru-RU" sz="1200" dirty="0"/>
                        <a:t> [</a:t>
                      </a:r>
                      <a:r>
                        <a:rPr lang="ru-RU" sz="1200" dirty="0" err="1"/>
                        <a:t>Artist</a:t>
                      </a:r>
                      <a:r>
                        <a:rPr lang="ru-RU" sz="1200" dirty="0"/>
                        <a:t> Y] </a:t>
                      </a:r>
                      <a:r>
                        <a:rPr lang="ru-RU" sz="1200" dirty="0" err="1"/>
                        <a:t>win</a:t>
                      </a:r>
                      <a:r>
                        <a:rPr lang="ru-RU" sz="1200" dirty="0"/>
                        <a:t> Best New </a:t>
                      </a:r>
                      <a:r>
                        <a:rPr lang="ru-RU" sz="1200" dirty="0" err="1"/>
                        <a:t>Artist</a:t>
                      </a:r>
                      <a:r>
                        <a:rPr lang="ru-RU" sz="1200" dirty="0"/>
                        <a:t> </a:t>
                      </a:r>
                      <a:r>
                        <a:rPr lang="ru-RU" sz="1200" dirty="0" err="1"/>
                        <a:t>at</a:t>
                      </a:r>
                      <a:r>
                        <a:rPr lang="ru-RU" sz="1200" dirty="0"/>
                        <a:t> </a:t>
                      </a:r>
                      <a:r>
                        <a:rPr lang="ru-RU" sz="1200" dirty="0" err="1"/>
                        <a:t>the</a:t>
                      </a:r>
                      <a:r>
                        <a:rPr lang="ru-RU" sz="1200" dirty="0"/>
                        <a:t> Grammy Awards </a:t>
                      </a:r>
                      <a:r>
                        <a:rPr lang="ru-RU" sz="1200" dirty="0" err="1"/>
                        <a:t>this</a:t>
                      </a:r>
                      <a:r>
                        <a:rPr lang="ru-RU" sz="1200" dirty="0"/>
                        <a:t> </a:t>
                      </a:r>
                      <a:r>
                        <a:rPr lang="ru-RU" sz="1200" dirty="0" err="1"/>
                        <a:t>year</a:t>
                      </a:r>
                      <a:r>
                        <a:rPr lang="ru-RU" sz="1200" dirty="0"/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275136"/>
                  </a:ext>
                </a:extLst>
              </a:tr>
              <a:tr h="6456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Gaming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Will [Game Z] receive a DLC announcement before the end of Q3?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1860982"/>
                  </a:ext>
                </a:extLst>
              </a:tr>
              <a:tr h="451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 err="1"/>
                        <a:t>Creators</a:t>
                      </a:r>
                      <a:endParaRPr lang="ru-RU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 err="1"/>
                        <a:t>Will</a:t>
                      </a:r>
                      <a:r>
                        <a:rPr lang="ru-RU" sz="1200" dirty="0"/>
                        <a:t> [</a:t>
                      </a:r>
                      <a:r>
                        <a:rPr lang="ru-RU" sz="1200" dirty="0" err="1"/>
                        <a:t>Creator</a:t>
                      </a:r>
                      <a:r>
                        <a:rPr lang="ru-RU" sz="1200" dirty="0"/>
                        <a:t> W] </a:t>
                      </a:r>
                      <a:r>
                        <a:rPr lang="ru-RU" sz="1200" dirty="0" err="1"/>
                        <a:t>reach</a:t>
                      </a:r>
                      <a:r>
                        <a:rPr lang="ru-RU" sz="1200" dirty="0"/>
                        <a:t> 10M </a:t>
                      </a:r>
                      <a:r>
                        <a:rPr lang="ru-RU" sz="1200" dirty="0" err="1"/>
                        <a:t>subscribers</a:t>
                      </a:r>
                      <a:r>
                        <a:rPr lang="ru-RU" sz="1200" dirty="0"/>
                        <a:t> </a:t>
                      </a:r>
                      <a:r>
                        <a:rPr lang="ru-RU" sz="1200" dirty="0" err="1"/>
                        <a:t>on</a:t>
                      </a:r>
                      <a:r>
                        <a:rPr lang="ru-RU" sz="1200" dirty="0"/>
                        <a:t> YouTube </a:t>
                      </a:r>
                      <a:r>
                        <a:rPr lang="ru-RU" sz="1200" dirty="0" err="1"/>
                        <a:t>by</a:t>
                      </a:r>
                      <a:r>
                        <a:rPr lang="ru-RU" sz="1200" dirty="0"/>
                        <a:t> [</a:t>
                      </a:r>
                      <a:r>
                        <a:rPr lang="ru-RU" sz="1200" dirty="0" err="1"/>
                        <a:t>date</a:t>
                      </a:r>
                      <a:r>
                        <a:rPr lang="ru-RU" sz="1200" dirty="0"/>
                        <a:t>]?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88202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8598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>
            <a:extLst>
              <a:ext uri="{FF2B5EF4-FFF2-40B4-BE49-F238E27FC236}">
                <a16:creationId xmlns:a16="http://schemas.microsoft.com/office/drawing/2014/main" id="{901C6771-FE43-97DB-B8D7-1CCEECBFADBC}"/>
              </a:ext>
            </a:extLst>
          </p:cNvPr>
          <p:cNvSpPr/>
          <p:nvPr/>
        </p:nvSpPr>
        <p:spPr>
          <a:xfrm>
            <a:off x="573920" y="646956"/>
            <a:ext cx="7102198" cy="403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3150" dirty="0" err="1">
                <a:solidFill>
                  <a:schemeClr val="accent1"/>
                </a:solidFill>
                <a:latin typeface="Times New Roman" panose="02020603050405020304" pitchFamily="18" charset="0"/>
                <a:ea typeface="Spectral SemiBold" pitchFamily="34" charset="-122"/>
                <a:cs typeface="Times New Roman" panose="02020603050405020304" pitchFamily="18" charset="0"/>
              </a:rPr>
              <a:t>Ключевые</a:t>
            </a:r>
            <a:r>
              <a:rPr lang="en-US" sz="3150" dirty="0">
                <a:solidFill>
                  <a:schemeClr val="accent1"/>
                </a:solidFill>
                <a:latin typeface="Times New Roman" panose="02020603050405020304" pitchFamily="18" charset="0"/>
                <a:ea typeface="Spectral SemiBold" pitchFamily="34" charset="-122"/>
                <a:cs typeface="Times New Roman" panose="02020603050405020304" pitchFamily="18" charset="0"/>
              </a:rPr>
              <a:t> </a:t>
            </a:r>
            <a:r>
              <a:rPr lang="en-US" sz="3150" dirty="0" err="1">
                <a:solidFill>
                  <a:schemeClr val="accent1"/>
                </a:solidFill>
                <a:latin typeface="Times New Roman" panose="02020603050405020304" pitchFamily="18" charset="0"/>
                <a:ea typeface="Spectral SemiBold" pitchFamily="34" charset="-122"/>
                <a:cs typeface="Times New Roman" panose="02020603050405020304" pitchFamily="18" charset="0"/>
              </a:rPr>
              <a:t>решения</a:t>
            </a:r>
            <a:r>
              <a:rPr lang="ru-RU" sz="3150" dirty="0">
                <a:solidFill>
                  <a:schemeClr val="accent1"/>
                </a:solidFill>
                <a:latin typeface="Times New Roman" panose="02020603050405020304" pitchFamily="18" charset="0"/>
                <a:ea typeface="Spectral SemiBold" pitchFamily="34" charset="-122"/>
                <a:cs typeface="Times New Roman" panose="02020603050405020304" pitchFamily="18" charset="0"/>
              </a:rPr>
              <a:t> </a:t>
            </a:r>
            <a:r>
              <a:rPr lang="ru-RU" sz="3150" dirty="0" err="1">
                <a:solidFill>
                  <a:schemeClr val="accent1"/>
                </a:solidFill>
                <a:latin typeface="Times New Roman" panose="02020603050405020304" pitchFamily="18" charset="0"/>
                <a:ea typeface="Spectral SemiBold" pitchFamily="34" charset="-122"/>
                <a:cs typeface="Times New Roman" panose="02020603050405020304" pitchFamily="18" charset="0"/>
              </a:rPr>
              <a:t>препроцессинга</a:t>
            </a:r>
            <a:endParaRPr lang="en-US" sz="315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0">
            <a:extLst>
              <a:ext uri="{FF2B5EF4-FFF2-40B4-BE49-F238E27FC236}">
                <a16:creationId xmlns:a16="http://schemas.microsoft.com/office/drawing/2014/main" id="{E59F4448-9DA7-FB33-54DE-D1ADBD85F1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4870" y="1352401"/>
            <a:ext cx="5475051" cy="1478955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11" name="Text 1">
            <a:extLst>
              <a:ext uri="{FF2B5EF4-FFF2-40B4-BE49-F238E27FC236}">
                <a16:creationId xmlns:a16="http://schemas.microsoft.com/office/drawing/2014/main" id="{B7B405CD-964C-940D-3934-C0080E7664B6}"/>
              </a:ext>
            </a:extLst>
          </p:cNvPr>
          <p:cNvSpPr/>
          <p:nvPr/>
        </p:nvSpPr>
        <p:spPr>
          <a:xfrm>
            <a:off x="811344" y="1532682"/>
            <a:ext cx="3542021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1550" dirty="0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Сортировка и согласование по датам</a:t>
            </a:r>
            <a:endParaRPr lang="en-US" sz="1550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EA76B215-77AE-28E0-F92C-64114D4820B2}"/>
              </a:ext>
            </a:extLst>
          </p:cNvPr>
          <p:cNvSpPr/>
          <p:nvPr/>
        </p:nvSpPr>
        <p:spPr>
          <a:xfrm>
            <a:off x="811344" y="1824881"/>
            <a:ext cx="5038301" cy="624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1000"/>
              </a:lnSpc>
              <a:buNone/>
            </a:pPr>
            <a:r>
              <a:rPr lang="en-US" sz="125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Все примеры упорядочены по prediction_date. Временная корректность обязательна: новостной контекст не должен содержать информации, опубликованной после </a:t>
            </a:r>
            <a:r>
              <a:rPr lang="en-US" sz="1250" dirty="0" err="1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даты</a:t>
            </a:r>
            <a:r>
              <a:rPr lang="en-US" sz="125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250" dirty="0" err="1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прогноза</a:t>
            </a:r>
            <a:r>
              <a:rPr lang="en-US" sz="125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250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8C8DFBF0-EBAE-32CC-72A2-51A0FB34B0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61979" y="1352401"/>
            <a:ext cx="5475151" cy="1478955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14" name="Text 3">
            <a:extLst>
              <a:ext uri="{FF2B5EF4-FFF2-40B4-BE49-F238E27FC236}">
                <a16:creationId xmlns:a16="http://schemas.microsoft.com/office/drawing/2014/main" id="{1FBBA0BC-9203-A166-729C-8BAD63F42F10}"/>
              </a:ext>
            </a:extLst>
          </p:cNvPr>
          <p:cNvSpPr/>
          <p:nvPr/>
        </p:nvSpPr>
        <p:spPr>
          <a:xfrm>
            <a:off x="6418453" y="1532682"/>
            <a:ext cx="5038401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1550" dirty="0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Равномерная выборка вероятностей из диапазона торгов</a:t>
            </a:r>
            <a:endParaRPr lang="en-US" sz="155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A9B93FB4-8B69-A341-A1C0-BDB721C0D10B}"/>
              </a:ext>
            </a:extLst>
          </p:cNvPr>
          <p:cNvSpPr/>
          <p:nvPr/>
        </p:nvSpPr>
        <p:spPr>
          <a:xfrm>
            <a:off x="6418453" y="2026394"/>
            <a:ext cx="5038401" cy="624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1000"/>
              </a:lnSpc>
              <a:buNone/>
            </a:pPr>
            <a:r>
              <a:rPr lang="en-US" sz="125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Для каждого рынка Polymarket вероятность выбиралась равномерно из диапазона активных торгов (от открытия до закрытия рынка). Это обеспечивает репрезентативность данных и избегает смещения в сторону конечных вероятностей.</a:t>
            </a:r>
            <a:endParaRPr lang="en-US" sz="1250" dirty="0"/>
          </a:p>
        </p:txBody>
      </p:sp>
      <p:pic>
        <p:nvPicPr>
          <p:cNvPr id="16" name="Image 2">
            <a:extLst>
              <a:ext uri="{FF2B5EF4-FFF2-40B4-BE49-F238E27FC236}">
                <a16:creationId xmlns:a16="http://schemas.microsoft.com/office/drawing/2014/main" id="{185E9C9B-D4C7-791D-8D27-F56CBB3BCB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870" y="2982466"/>
            <a:ext cx="5475051" cy="1121271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17" name="Text 5">
            <a:extLst>
              <a:ext uri="{FF2B5EF4-FFF2-40B4-BE49-F238E27FC236}">
                <a16:creationId xmlns:a16="http://schemas.microsoft.com/office/drawing/2014/main" id="{DF8E29B4-96F3-6B5B-A8BA-89F1782891DF}"/>
              </a:ext>
            </a:extLst>
          </p:cNvPr>
          <p:cNvSpPr/>
          <p:nvPr/>
        </p:nvSpPr>
        <p:spPr>
          <a:xfrm>
            <a:off x="811344" y="3162747"/>
            <a:ext cx="2951287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1550" dirty="0" err="1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Нормализация</a:t>
            </a:r>
            <a:r>
              <a:rPr lang="en-US" sz="1550" dirty="0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 </a:t>
            </a:r>
            <a:r>
              <a:rPr lang="ru-RU" sz="1550" dirty="0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меток</a:t>
            </a:r>
            <a:endParaRPr lang="en-US" sz="155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0614DA0B-DCAB-EDBF-E112-079394B5549B}"/>
              </a:ext>
            </a:extLst>
          </p:cNvPr>
          <p:cNvSpPr/>
          <p:nvPr/>
        </p:nvSpPr>
        <p:spPr>
          <a:xfrm>
            <a:off x="811344" y="3454946"/>
            <a:ext cx="5038301" cy="468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1000"/>
              </a:lnSpc>
              <a:buNone/>
            </a:pPr>
            <a:r>
              <a:rPr lang="en-US" sz="125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Приведение разнородных исходов Polymarket к единому бинарному формату: Yes=1, No=0. Устранение нестандартных меток и неоднозначных исходов.</a:t>
            </a:r>
            <a:endParaRPr lang="en-US" sz="1250" dirty="0"/>
          </a:p>
        </p:txBody>
      </p:sp>
      <p:pic>
        <p:nvPicPr>
          <p:cNvPr id="19" name="Image 3">
            <a:extLst>
              <a:ext uri="{FF2B5EF4-FFF2-40B4-BE49-F238E27FC236}">
                <a16:creationId xmlns:a16="http://schemas.microsoft.com/office/drawing/2014/main" id="{DA9FA120-2EA2-2D50-A8E2-AF7699CE15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61979" y="2982466"/>
            <a:ext cx="5475151" cy="1121271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20" name="Text 7">
            <a:extLst>
              <a:ext uri="{FF2B5EF4-FFF2-40B4-BE49-F238E27FC236}">
                <a16:creationId xmlns:a16="http://schemas.microsoft.com/office/drawing/2014/main" id="{3A7582A6-DF78-0318-5CD3-A1A53F1D07FD}"/>
              </a:ext>
            </a:extLst>
          </p:cNvPr>
          <p:cNvSpPr/>
          <p:nvPr/>
        </p:nvSpPr>
        <p:spPr>
          <a:xfrm>
            <a:off x="6418453" y="3162747"/>
            <a:ext cx="2015380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1550" dirty="0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Дедупликация</a:t>
            </a:r>
            <a:endParaRPr lang="en-US" sz="155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00D3F899-802F-B667-7D67-052BA274BD1C}"/>
              </a:ext>
            </a:extLst>
          </p:cNvPr>
          <p:cNvSpPr/>
          <p:nvPr/>
        </p:nvSpPr>
        <p:spPr>
          <a:xfrm>
            <a:off x="6418453" y="3454946"/>
            <a:ext cx="5038401" cy="468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1000"/>
              </a:lnSpc>
              <a:buNone/>
            </a:pPr>
            <a:r>
              <a:rPr lang="en-US" sz="125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Удаление дублирующихся и семантически близких вопросов </a:t>
            </a:r>
            <a:r>
              <a:rPr lang="en-US" sz="1250" dirty="0" err="1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между</a:t>
            </a:r>
            <a:r>
              <a:rPr lang="en-US" sz="125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ru-RU" sz="125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реальной</a:t>
            </a:r>
            <a:r>
              <a:rPr lang="en-US" sz="125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и </a:t>
            </a:r>
            <a:r>
              <a:rPr lang="ru-RU" sz="125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сгенерированной</a:t>
            </a:r>
            <a:r>
              <a:rPr lang="en-US" sz="125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частями датасета для предотвращения утечки между train/</a:t>
            </a:r>
            <a:r>
              <a:rPr lang="en-US" sz="1250" dirty="0" err="1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val</a:t>
            </a:r>
            <a:r>
              <a:rPr lang="en-US" sz="125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сплитами.</a:t>
            </a:r>
            <a:endParaRPr lang="en-US" sz="1250" dirty="0"/>
          </a:p>
        </p:txBody>
      </p:sp>
      <p:pic>
        <p:nvPicPr>
          <p:cNvPr id="22" name="Image 4">
            <a:extLst>
              <a:ext uri="{FF2B5EF4-FFF2-40B4-BE49-F238E27FC236}">
                <a16:creationId xmlns:a16="http://schemas.microsoft.com/office/drawing/2014/main" id="{F1C8185E-47B4-98FF-B57A-5B3B2A5399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8474" y="4280049"/>
            <a:ext cx="5475051" cy="1121271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23" name="Text 9">
            <a:extLst>
              <a:ext uri="{FF2B5EF4-FFF2-40B4-BE49-F238E27FC236}">
                <a16:creationId xmlns:a16="http://schemas.microsoft.com/office/drawing/2014/main" id="{87EC4956-4C4E-8B86-2E26-27797D0437A0}"/>
              </a:ext>
            </a:extLst>
          </p:cNvPr>
          <p:cNvSpPr/>
          <p:nvPr/>
        </p:nvSpPr>
        <p:spPr>
          <a:xfrm>
            <a:off x="3614948" y="4460330"/>
            <a:ext cx="2991370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1550" dirty="0" err="1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Единый</a:t>
            </a:r>
            <a:r>
              <a:rPr lang="en-US" sz="1550" dirty="0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 </a:t>
            </a:r>
            <a:r>
              <a:rPr lang="en-US" sz="1550" dirty="0" err="1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формат</a:t>
            </a:r>
            <a:r>
              <a:rPr lang="ru-RU" sz="1550" dirty="0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 данных</a:t>
            </a:r>
            <a:endParaRPr lang="en-US" sz="155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D188869F-4BA5-E224-216B-E1E31AFBCB21}"/>
              </a:ext>
            </a:extLst>
          </p:cNvPr>
          <p:cNvSpPr/>
          <p:nvPr/>
        </p:nvSpPr>
        <p:spPr>
          <a:xfrm>
            <a:off x="3614948" y="4752529"/>
            <a:ext cx="5038301" cy="468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1000"/>
              </a:lnSpc>
              <a:buNone/>
            </a:pPr>
            <a:r>
              <a:rPr lang="en-US" sz="125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Все поля (question, prediction_date, resolution_date, answer, resolution_reasoning, news_context) приводятся к одной схеме вне зависимости от источника.</a:t>
            </a:r>
            <a:endParaRPr lang="en-US" sz="1250" dirty="0"/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4511C7FD-1E48-91A5-BEF1-74ED0FEECFAD}"/>
              </a:ext>
            </a:extLst>
          </p:cNvPr>
          <p:cNvSpPr/>
          <p:nvPr/>
        </p:nvSpPr>
        <p:spPr>
          <a:xfrm>
            <a:off x="573920" y="5546080"/>
            <a:ext cx="11063209" cy="664964"/>
          </a:xfrm>
          <a:prstGeom prst="roundRect">
            <a:avLst>
              <a:gd name="adj" fmla="val 3637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6" name="Image 5">
            <a:extLst>
              <a:ext uri="{FF2B5EF4-FFF2-40B4-BE49-F238E27FC236}">
                <a16:creationId xmlns:a16="http://schemas.microsoft.com/office/drawing/2014/main" id="{6FE15968-25B3-529A-85A2-70C92199E5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146" y="5747594"/>
            <a:ext cx="201508" cy="161230"/>
          </a:xfrm>
          <a:prstGeom prst="rect">
            <a:avLst/>
          </a:prstGeom>
        </p:spPr>
      </p:pic>
      <p:sp>
        <p:nvSpPr>
          <p:cNvPr id="27" name="Text 12">
            <a:extLst>
              <a:ext uri="{FF2B5EF4-FFF2-40B4-BE49-F238E27FC236}">
                <a16:creationId xmlns:a16="http://schemas.microsoft.com/office/drawing/2014/main" id="{5BFFA455-FF83-8485-24C9-278A10753517}"/>
              </a:ext>
            </a:extLst>
          </p:cNvPr>
          <p:cNvSpPr/>
          <p:nvPr/>
        </p:nvSpPr>
        <p:spPr>
          <a:xfrm>
            <a:off x="1097881" y="5722392"/>
            <a:ext cx="10378022" cy="312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1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Критично для обучения:</a:t>
            </a:r>
            <a:r>
              <a:rPr lang="en-US" sz="12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нарушение временной корректности контекста или несогласованность форматов приводят к некорректному обучающему сигналу и </a:t>
            </a:r>
            <a:r>
              <a:rPr lang="en-US" sz="1250" dirty="0" err="1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завышенным</a:t>
            </a:r>
            <a:r>
              <a:rPr lang="en-US" sz="12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метрикам</a:t>
            </a:r>
            <a:r>
              <a:rPr lang="ru-RU" sz="12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на валидации</a:t>
            </a:r>
            <a:r>
              <a:rPr lang="en-US" sz="12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566123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24DB3B90-E31B-F296-DD94-B75931CAF474}"/>
              </a:ext>
            </a:extLst>
          </p:cNvPr>
          <p:cNvSpPr/>
          <p:nvPr/>
        </p:nvSpPr>
        <p:spPr>
          <a:xfrm>
            <a:off x="601846" y="564158"/>
            <a:ext cx="8589252" cy="408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ru-RU" sz="3200" dirty="0">
                <a:solidFill>
                  <a:schemeClr val="accent1"/>
                </a:solidFill>
                <a:latin typeface="Times New Roman" panose="02020603050405020304" pitchFamily="18" charset="0"/>
                <a:ea typeface="Spectral SemiBold" pitchFamily="34" charset="-122"/>
                <a:cs typeface="Times New Roman" panose="02020603050405020304" pitchFamily="18" charset="0"/>
              </a:rPr>
              <a:t>Подбор</a:t>
            </a:r>
            <a:r>
              <a:rPr lang="en-US" sz="3200" dirty="0">
                <a:solidFill>
                  <a:schemeClr val="accent1"/>
                </a:solidFill>
                <a:latin typeface="Times New Roman" panose="02020603050405020304" pitchFamily="18" charset="0"/>
                <a:ea typeface="Spectral SemiBold" pitchFamily="34" charset="-122"/>
                <a:cs typeface="Times New Roman" panose="02020603050405020304" pitchFamily="18" charset="0"/>
              </a:rPr>
              <a:t> новостного контекста через Exa</a:t>
            </a:r>
            <a:endParaRPr lang="en-US" sz="32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05846184-8DA8-8933-A62C-B66FEF1CCC07}"/>
              </a:ext>
            </a:extLst>
          </p:cNvPr>
          <p:cNvSpPr/>
          <p:nvPr/>
        </p:nvSpPr>
        <p:spPr>
          <a:xfrm>
            <a:off x="1042113" y="1572254"/>
            <a:ext cx="2651852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dirty="0">
                <a:solidFill>
                  <a:srgbClr val="212423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Retrieval pipeline</a:t>
            </a:r>
            <a:r>
              <a:rPr lang="ru-RU" dirty="0">
                <a:solidFill>
                  <a:srgbClr val="212423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:</a:t>
            </a:r>
            <a:endParaRPr lang="en-US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EE9BA6B8-D5C2-E58C-4ABB-2A17E7BE6A2D}"/>
              </a:ext>
            </a:extLst>
          </p:cNvPr>
          <p:cNvSpPr/>
          <p:nvPr/>
        </p:nvSpPr>
        <p:spPr>
          <a:xfrm>
            <a:off x="601846" y="2326027"/>
            <a:ext cx="2294674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ru-RU" sz="1600" dirty="0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1. </a:t>
            </a:r>
            <a:r>
              <a:rPr lang="en-US" sz="1600" dirty="0" err="1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Формирование</a:t>
            </a:r>
            <a:r>
              <a:rPr lang="en-US" sz="1600" dirty="0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 запроса</a:t>
            </a:r>
            <a:endParaRPr lang="en-US" sz="16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5AB5D4DB-D2E0-7D17-0458-ABB54D0F2D4F}"/>
              </a:ext>
            </a:extLst>
          </p:cNvPr>
          <p:cNvSpPr/>
          <p:nvPr/>
        </p:nvSpPr>
        <p:spPr>
          <a:xfrm>
            <a:off x="601846" y="2598768"/>
            <a:ext cx="4725274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1000"/>
              </a:lnSpc>
              <a:buNone/>
            </a:pPr>
            <a:r>
              <a:rPr lang="ru-RU" sz="125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Вопрос</a:t>
            </a:r>
            <a:r>
              <a:rPr lang="en-US" sz="125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→ семантический поисковый запрос в Exa</a:t>
            </a:r>
            <a:endParaRPr lang="en-US" sz="125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E1205F70-4350-9AE0-589A-40E78BBB662A}"/>
              </a:ext>
            </a:extLst>
          </p:cNvPr>
          <p:cNvSpPr/>
          <p:nvPr/>
        </p:nvSpPr>
        <p:spPr>
          <a:xfrm>
            <a:off x="601846" y="3228793"/>
            <a:ext cx="2307969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ru-RU" sz="1600" dirty="0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2. </a:t>
            </a:r>
            <a:r>
              <a:rPr lang="en-US" sz="1600" dirty="0" err="1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Временная</a:t>
            </a:r>
            <a:r>
              <a:rPr lang="en-US" sz="1600" dirty="0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 фильтрация</a:t>
            </a:r>
            <a:endParaRPr lang="en-US" sz="1600" dirty="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CB07C57D-27FF-0401-098C-B32CFA494705}"/>
              </a:ext>
            </a:extLst>
          </p:cNvPr>
          <p:cNvSpPr/>
          <p:nvPr/>
        </p:nvSpPr>
        <p:spPr>
          <a:xfrm>
            <a:off x="601846" y="3520790"/>
            <a:ext cx="4725274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125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Отбор только статей, опубликованных до prediction_date</a:t>
            </a:r>
            <a:endParaRPr lang="en-US" sz="125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ADB45597-1334-BCFC-7C08-4ABAE419EF61}"/>
              </a:ext>
            </a:extLst>
          </p:cNvPr>
          <p:cNvSpPr/>
          <p:nvPr/>
        </p:nvSpPr>
        <p:spPr>
          <a:xfrm>
            <a:off x="601846" y="4170060"/>
            <a:ext cx="2042268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ru-RU" sz="1600" dirty="0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3. </a:t>
            </a:r>
            <a:r>
              <a:rPr lang="en-US" sz="1600" dirty="0" err="1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Ранжирование</a:t>
            </a:r>
            <a:endParaRPr lang="en-US" sz="1600" dirty="0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69D36768-B993-A39B-11A1-0DB00FC879B7}"/>
              </a:ext>
            </a:extLst>
          </p:cNvPr>
          <p:cNvSpPr/>
          <p:nvPr/>
        </p:nvSpPr>
        <p:spPr>
          <a:xfrm>
            <a:off x="601846" y="4452431"/>
            <a:ext cx="4725274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125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Топ-N релевантных статей по семантической близости</a:t>
            </a:r>
            <a:endParaRPr lang="en-US" sz="1250" dirty="0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B1E349E6-FC01-F754-3D1B-42F80037475E}"/>
              </a:ext>
            </a:extLst>
          </p:cNvPr>
          <p:cNvSpPr/>
          <p:nvPr/>
        </p:nvSpPr>
        <p:spPr>
          <a:xfrm>
            <a:off x="601846" y="5140202"/>
            <a:ext cx="2508088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ru-RU" sz="1600" dirty="0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4. </a:t>
            </a:r>
            <a:r>
              <a:rPr lang="en-US" sz="1600" dirty="0" err="1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Формирование</a:t>
            </a:r>
            <a:r>
              <a:rPr lang="en-US" sz="1600" dirty="0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 контекста</a:t>
            </a:r>
            <a:endParaRPr lang="en-US" sz="1600" dirty="0"/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FC07F23E-009D-9EC0-5F33-85AFCF8F8382}"/>
              </a:ext>
            </a:extLst>
          </p:cNvPr>
          <p:cNvSpPr/>
          <p:nvPr/>
        </p:nvSpPr>
        <p:spPr>
          <a:xfrm>
            <a:off x="601846" y="5441820"/>
            <a:ext cx="4725274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1000"/>
              </a:lnSpc>
              <a:buNone/>
            </a:pPr>
            <a:r>
              <a:rPr lang="ru-RU" sz="125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Объединение</a:t>
            </a:r>
            <a:r>
              <a:rPr lang="en-US" sz="125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заголовков и сниппетов → news_context поле</a:t>
            </a:r>
            <a:endParaRPr lang="en-US" sz="1250" dirty="0"/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9941A81B-F0B6-2FE5-B2C8-E2AE3D000261}"/>
              </a:ext>
            </a:extLst>
          </p:cNvPr>
          <p:cNvSpPr/>
          <p:nvPr/>
        </p:nvSpPr>
        <p:spPr>
          <a:xfrm>
            <a:off x="5732121" y="1360587"/>
            <a:ext cx="3781430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212423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Схема retrieval-conditioned input</a:t>
            </a:r>
            <a:endParaRPr lang="en-US" sz="1600" dirty="0"/>
          </a:p>
        </p:txBody>
      </p:sp>
      <p:pic>
        <p:nvPicPr>
          <p:cNvPr id="27" name="Image 0" descr="preencoded.png">
            <a:extLst>
              <a:ext uri="{FF2B5EF4-FFF2-40B4-BE49-F238E27FC236}">
                <a16:creationId xmlns:a16="http://schemas.microsoft.com/office/drawing/2014/main" id="{84B0964D-9888-2481-2194-529429A1D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8762" y="1739305"/>
            <a:ext cx="5570696" cy="2402284"/>
          </a:xfrm>
          <a:prstGeom prst="rect">
            <a:avLst/>
          </a:prstGeom>
        </p:spPr>
      </p:pic>
      <p:sp>
        <p:nvSpPr>
          <p:cNvPr id="28" name="Text 19">
            <a:extLst>
              <a:ext uri="{FF2B5EF4-FFF2-40B4-BE49-F238E27FC236}">
                <a16:creationId xmlns:a16="http://schemas.microsoft.com/office/drawing/2014/main" id="{63503B4B-8E25-AF29-AF24-D74F3AE22789}"/>
              </a:ext>
            </a:extLst>
          </p:cNvPr>
          <p:cNvSpPr/>
          <p:nvPr/>
        </p:nvSpPr>
        <p:spPr>
          <a:xfrm>
            <a:off x="6253600" y="3701824"/>
            <a:ext cx="1372023" cy="126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LLM прогнозирование</a:t>
            </a:r>
            <a:endParaRPr lang="en-US" sz="950" dirty="0"/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8FF31866-84E1-D945-79F2-A51A8B91A355}"/>
              </a:ext>
            </a:extLst>
          </p:cNvPr>
          <p:cNvSpPr/>
          <p:nvPr/>
        </p:nvSpPr>
        <p:spPr>
          <a:xfrm>
            <a:off x="6253600" y="3145734"/>
            <a:ext cx="2061676" cy="126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Извлечённый новостной контекст</a:t>
            </a:r>
            <a:endParaRPr lang="en-US" sz="950" dirty="0"/>
          </a:p>
        </p:txBody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16357E6B-8E1F-CF76-D68F-9A8D3311A134}"/>
              </a:ext>
            </a:extLst>
          </p:cNvPr>
          <p:cNvSpPr/>
          <p:nvPr/>
        </p:nvSpPr>
        <p:spPr>
          <a:xfrm>
            <a:off x="6253600" y="2595261"/>
            <a:ext cx="1560454" cy="126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Exa семантический поиск</a:t>
            </a:r>
            <a:endParaRPr lang="en-US" sz="950" dirty="0"/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FB91FE91-A75B-0990-DC44-E4C94998C16B}"/>
              </a:ext>
            </a:extLst>
          </p:cNvPr>
          <p:cNvSpPr/>
          <p:nvPr/>
        </p:nvSpPr>
        <p:spPr>
          <a:xfrm>
            <a:off x="6253600" y="2039171"/>
            <a:ext cx="1263809" cy="126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Вопрос (рынок)</a:t>
            </a:r>
            <a:endParaRPr lang="en-US" sz="950" dirty="0"/>
          </a:p>
        </p:txBody>
      </p:sp>
      <p:sp>
        <p:nvSpPr>
          <p:cNvPr id="32" name="Shape 23">
            <a:extLst>
              <a:ext uri="{FF2B5EF4-FFF2-40B4-BE49-F238E27FC236}">
                <a16:creationId xmlns:a16="http://schemas.microsoft.com/office/drawing/2014/main" id="{589FD6F3-B50C-D623-8220-98584D7E7E7D}"/>
              </a:ext>
            </a:extLst>
          </p:cNvPr>
          <p:cNvSpPr/>
          <p:nvPr/>
        </p:nvSpPr>
        <p:spPr>
          <a:xfrm>
            <a:off x="5732121" y="4316115"/>
            <a:ext cx="5863979" cy="679252"/>
          </a:xfrm>
          <a:prstGeom prst="roundRect">
            <a:avLst>
              <a:gd name="adj" fmla="val 3608"/>
            </a:avLst>
          </a:prstGeom>
          <a:solidFill>
            <a:srgbClr val="B6D6FC"/>
          </a:solidFill>
          <a:ln/>
        </p:spPr>
      </p:sp>
      <p:pic>
        <p:nvPicPr>
          <p:cNvPr id="33" name="Image 1" descr="preencoded.png">
            <a:extLst>
              <a:ext uri="{FF2B5EF4-FFF2-40B4-BE49-F238E27FC236}">
                <a16:creationId xmlns:a16="http://schemas.microsoft.com/office/drawing/2014/main" id="{B280A650-72F6-4262-0A49-C95969B58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431" y="4520208"/>
            <a:ext cx="204187" cy="163314"/>
          </a:xfrm>
          <a:prstGeom prst="rect">
            <a:avLst/>
          </a:prstGeom>
        </p:spPr>
      </p:pic>
      <p:sp>
        <p:nvSpPr>
          <p:cNvPr id="34" name="Text 24">
            <a:extLst>
              <a:ext uri="{FF2B5EF4-FFF2-40B4-BE49-F238E27FC236}">
                <a16:creationId xmlns:a16="http://schemas.microsoft.com/office/drawing/2014/main" id="{911362B4-5D24-505B-D4A5-72D2814DE77E}"/>
              </a:ext>
            </a:extLst>
          </p:cNvPr>
          <p:cNvSpPr/>
          <p:nvPr/>
        </p:nvSpPr>
        <p:spPr>
          <a:xfrm>
            <a:off x="6262928" y="4496495"/>
            <a:ext cx="5169862" cy="3184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Временная корректность критична:</a:t>
            </a:r>
            <a:r>
              <a:rPr lang="en-US" sz="12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контекст строго ограничен датой прогноза, что имитирует реальный сценарий использования модели.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840235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EA9413-7A72-6941-BED2-A2659D792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2D5BCB9E-F3F4-5496-5D0D-C6D78912C0AD}"/>
              </a:ext>
            </a:extLst>
          </p:cNvPr>
          <p:cNvSpPr/>
          <p:nvPr/>
        </p:nvSpPr>
        <p:spPr>
          <a:xfrm>
            <a:off x="601945" y="1370013"/>
            <a:ext cx="3705232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 err="1">
                <a:solidFill>
                  <a:srgbClr val="212423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Как</a:t>
            </a:r>
            <a:r>
              <a:rPr lang="en-US" sz="2400" dirty="0">
                <a:solidFill>
                  <a:srgbClr val="212423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 </a:t>
            </a:r>
            <a:r>
              <a:rPr lang="en-US" sz="2400" dirty="0" err="1">
                <a:solidFill>
                  <a:srgbClr val="212423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устроен</a:t>
            </a:r>
            <a:endParaRPr lang="en-US" sz="2400" dirty="0"/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DDC2C129-0C94-E238-B913-982DE8778B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2896" y="1836241"/>
            <a:ext cx="5324143" cy="734616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B5166745-6727-D94F-2A39-9AE4A07B0D9F}"/>
              </a:ext>
            </a:extLst>
          </p:cNvPr>
          <p:cNvSpPr/>
          <p:nvPr/>
        </p:nvSpPr>
        <p:spPr>
          <a:xfrm>
            <a:off x="832921" y="2010073"/>
            <a:ext cx="4900291" cy="386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Гибридный baseline не является чисто текстовой моделью</a:t>
            </a:r>
            <a:endParaRPr lang="en-US" sz="150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CD26EFFE-64EA-BF7F-2EBF-558E228A02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2896" y="2710160"/>
            <a:ext cx="5324143" cy="928092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11" name="Text 3">
            <a:extLst>
              <a:ext uri="{FF2B5EF4-FFF2-40B4-BE49-F238E27FC236}">
                <a16:creationId xmlns:a16="http://schemas.microsoft.com/office/drawing/2014/main" id="{131A61AE-B669-F56A-844F-546DADA5DFEA}"/>
              </a:ext>
            </a:extLst>
          </p:cNvPr>
          <p:cNvSpPr/>
          <p:nvPr/>
        </p:nvSpPr>
        <p:spPr>
          <a:xfrm>
            <a:off x="832921" y="2883991"/>
            <a:ext cx="4900291" cy="580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Если доступна prediction_polymarket, итоговый прогноз берётся из рыночной вероятности после калибровки</a:t>
            </a:r>
            <a:endParaRPr lang="en-US" sz="1500" dirty="0"/>
          </a:p>
        </p:txBody>
      </p:sp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D1FFADF0-38B5-FD06-8F55-346AC20A3A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2896" y="3777555"/>
            <a:ext cx="5324143" cy="734616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13" name="Text 4">
            <a:extLst>
              <a:ext uri="{FF2B5EF4-FFF2-40B4-BE49-F238E27FC236}">
                <a16:creationId xmlns:a16="http://schemas.microsoft.com/office/drawing/2014/main" id="{6A927C7F-4782-88F7-5DFE-24DF55101A0A}"/>
              </a:ext>
            </a:extLst>
          </p:cNvPr>
          <p:cNvSpPr/>
          <p:nvPr/>
        </p:nvSpPr>
        <p:spPr>
          <a:xfrm>
            <a:off x="832921" y="3951387"/>
            <a:ext cx="4900291" cy="386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Если рыночной вероятности нет, используется текстовая ветка</a:t>
            </a:r>
            <a:endParaRPr lang="en-US" sz="1500" dirty="0"/>
          </a:p>
        </p:txBody>
      </p:sp>
      <p:pic>
        <p:nvPicPr>
          <p:cNvPr id="14" name="Image 3" descr="preencoded.png">
            <a:extLst>
              <a:ext uri="{FF2B5EF4-FFF2-40B4-BE49-F238E27FC236}">
                <a16:creationId xmlns:a16="http://schemas.microsoft.com/office/drawing/2014/main" id="{113DE2F8-7AD4-4942-B929-DC90619350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2896" y="4651474"/>
            <a:ext cx="5324143" cy="734616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15" name="Text 5">
            <a:extLst>
              <a:ext uri="{FF2B5EF4-FFF2-40B4-BE49-F238E27FC236}">
                <a16:creationId xmlns:a16="http://schemas.microsoft.com/office/drawing/2014/main" id="{B3F39A16-4C04-313D-E871-22912BA3949E}"/>
              </a:ext>
            </a:extLst>
          </p:cNvPr>
          <p:cNvSpPr/>
          <p:nvPr/>
        </p:nvSpPr>
        <p:spPr>
          <a:xfrm>
            <a:off x="832921" y="4825305"/>
            <a:ext cx="4900291" cy="386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Текстовая ветка: TF-IDF по question и очищенному prompt + логистическая регрессия + калибровка</a:t>
            </a:r>
            <a:endParaRPr lang="en-US" sz="1500" dirty="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1F2BC340-66F0-6EC5-1621-45C0BB3C9621}"/>
              </a:ext>
            </a:extLst>
          </p:cNvPr>
          <p:cNvSpPr/>
          <p:nvPr/>
        </p:nvSpPr>
        <p:spPr>
          <a:xfrm>
            <a:off x="6291006" y="1370013"/>
            <a:ext cx="3871121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212423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Ключевые результаты</a:t>
            </a:r>
            <a:endParaRPr lang="en-US" sz="2400" dirty="0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E6EA85E7-1D44-FD96-BC5C-1C9470238F64}"/>
              </a:ext>
            </a:extLst>
          </p:cNvPr>
          <p:cNvSpPr/>
          <p:nvPr/>
        </p:nvSpPr>
        <p:spPr>
          <a:xfrm>
            <a:off x="6291006" y="1836241"/>
            <a:ext cx="5305094" cy="1672233"/>
          </a:xfrm>
          <a:prstGeom prst="roundRect">
            <a:avLst>
              <a:gd name="adj" fmla="val 1388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519315D6-C7F1-3374-D6F5-E91549D5ADB5}"/>
              </a:ext>
            </a:extLst>
          </p:cNvPr>
          <p:cNvSpPr/>
          <p:nvPr/>
        </p:nvSpPr>
        <p:spPr>
          <a:xfrm>
            <a:off x="6297455" y="1842591"/>
            <a:ext cx="2434470" cy="330002"/>
          </a:xfrm>
          <a:prstGeom prst="rect">
            <a:avLst/>
          </a:prstGeom>
          <a:solidFill>
            <a:srgbClr val="D9E2F2"/>
          </a:solidFill>
          <a:ln/>
        </p:spPr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1108645-4A96-501B-8634-7C0E31C47925}"/>
              </a:ext>
            </a:extLst>
          </p:cNvPr>
          <p:cNvSpPr/>
          <p:nvPr/>
        </p:nvSpPr>
        <p:spPr>
          <a:xfrm>
            <a:off x="6452232" y="1932484"/>
            <a:ext cx="2731325" cy="147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Модель</a:t>
            </a:r>
            <a:endParaRPr lang="en-US" sz="1200" dirty="0"/>
          </a:p>
        </p:txBody>
      </p:sp>
      <p:sp>
        <p:nvSpPr>
          <p:cNvPr id="22" name="Shape 11">
            <a:extLst>
              <a:ext uri="{FF2B5EF4-FFF2-40B4-BE49-F238E27FC236}">
                <a16:creationId xmlns:a16="http://schemas.microsoft.com/office/drawing/2014/main" id="{866D2DF5-6EB7-04AA-DEE4-23C2806710B7}"/>
              </a:ext>
            </a:extLst>
          </p:cNvPr>
          <p:cNvSpPr/>
          <p:nvPr/>
        </p:nvSpPr>
        <p:spPr>
          <a:xfrm>
            <a:off x="8731925" y="1842591"/>
            <a:ext cx="1428913" cy="330002"/>
          </a:xfrm>
          <a:prstGeom prst="rect">
            <a:avLst/>
          </a:prstGeom>
          <a:solidFill>
            <a:srgbClr val="D9E2F2"/>
          </a:solidFill>
          <a:ln/>
        </p:spPr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9A795A42-A87E-F99F-8DE5-ECD4032A6901}"/>
              </a:ext>
            </a:extLst>
          </p:cNvPr>
          <p:cNvSpPr/>
          <p:nvPr/>
        </p:nvSpPr>
        <p:spPr>
          <a:xfrm>
            <a:off x="8889877" y="1932484"/>
            <a:ext cx="1722593" cy="147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Valid</a:t>
            </a:r>
            <a:endParaRPr lang="en-US" sz="1200" dirty="0"/>
          </a:p>
        </p:txBody>
      </p:sp>
      <p:sp>
        <p:nvSpPr>
          <p:cNvPr id="24" name="Shape 13">
            <a:extLst>
              <a:ext uri="{FF2B5EF4-FFF2-40B4-BE49-F238E27FC236}">
                <a16:creationId xmlns:a16="http://schemas.microsoft.com/office/drawing/2014/main" id="{83109221-8AB5-24EA-78D1-7A910821FE84}"/>
              </a:ext>
            </a:extLst>
          </p:cNvPr>
          <p:cNvSpPr/>
          <p:nvPr/>
        </p:nvSpPr>
        <p:spPr>
          <a:xfrm>
            <a:off x="10160837" y="1842591"/>
            <a:ext cx="1428913" cy="330002"/>
          </a:xfrm>
          <a:prstGeom prst="rect">
            <a:avLst/>
          </a:prstGeom>
          <a:solidFill>
            <a:srgbClr val="D9E2F2"/>
          </a:solidFill>
          <a:ln/>
        </p:spPr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CE6DC4A4-6F16-07F8-B84F-74CFFC735E69}"/>
              </a:ext>
            </a:extLst>
          </p:cNvPr>
          <p:cNvSpPr/>
          <p:nvPr/>
        </p:nvSpPr>
        <p:spPr>
          <a:xfrm>
            <a:off x="10318790" y="1932484"/>
            <a:ext cx="1725768" cy="147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Test</a:t>
            </a:r>
            <a:endParaRPr lang="en-US" sz="1200" dirty="0"/>
          </a:p>
        </p:txBody>
      </p:sp>
      <p:sp>
        <p:nvSpPr>
          <p:cNvPr id="26" name="Shape 15">
            <a:extLst>
              <a:ext uri="{FF2B5EF4-FFF2-40B4-BE49-F238E27FC236}">
                <a16:creationId xmlns:a16="http://schemas.microsoft.com/office/drawing/2014/main" id="{C6F02E7B-64B2-2F6B-3827-60C95975F2D9}"/>
              </a:ext>
            </a:extLst>
          </p:cNvPr>
          <p:cNvSpPr/>
          <p:nvPr/>
        </p:nvSpPr>
        <p:spPr>
          <a:xfrm>
            <a:off x="6297455" y="2172593"/>
            <a:ext cx="2434470" cy="333177"/>
          </a:xfrm>
          <a:prstGeom prst="rect">
            <a:avLst/>
          </a:prstGeom>
          <a:solidFill>
            <a:srgbClr val="B8C9E6"/>
          </a:solidFill>
          <a:ln/>
        </p:spPr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B491CCAF-0948-6A95-A0BF-C733850D8F55}"/>
              </a:ext>
            </a:extLst>
          </p:cNvPr>
          <p:cNvSpPr/>
          <p:nvPr/>
        </p:nvSpPr>
        <p:spPr>
          <a:xfrm>
            <a:off x="6452232" y="2265660"/>
            <a:ext cx="2731325" cy="147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hybrid model</a:t>
            </a:r>
            <a:endParaRPr lang="en-US" sz="1200" dirty="0"/>
          </a:p>
        </p:txBody>
      </p:sp>
      <p:sp>
        <p:nvSpPr>
          <p:cNvPr id="28" name="Shape 17">
            <a:extLst>
              <a:ext uri="{FF2B5EF4-FFF2-40B4-BE49-F238E27FC236}">
                <a16:creationId xmlns:a16="http://schemas.microsoft.com/office/drawing/2014/main" id="{3ADA574E-930A-6919-F9CA-23E3EF90D3AF}"/>
              </a:ext>
            </a:extLst>
          </p:cNvPr>
          <p:cNvSpPr/>
          <p:nvPr/>
        </p:nvSpPr>
        <p:spPr>
          <a:xfrm>
            <a:off x="8731925" y="2172593"/>
            <a:ext cx="1428913" cy="333177"/>
          </a:xfrm>
          <a:prstGeom prst="rect">
            <a:avLst/>
          </a:prstGeom>
          <a:solidFill>
            <a:srgbClr val="B8C9E6"/>
          </a:solidFill>
          <a:ln/>
        </p:spPr>
      </p:sp>
      <p:sp>
        <p:nvSpPr>
          <p:cNvPr id="29" name="Text 18">
            <a:extLst>
              <a:ext uri="{FF2B5EF4-FFF2-40B4-BE49-F238E27FC236}">
                <a16:creationId xmlns:a16="http://schemas.microsoft.com/office/drawing/2014/main" id="{2D9F588E-44EB-4A4D-AC52-3F71258D1BFF}"/>
              </a:ext>
            </a:extLst>
          </p:cNvPr>
          <p:cNvSpPr/>
          <p:nvPr/>
        </p:nvSpPr>
        <p:spPr>
          <a:xfrm>
            <a:off x="8889877" y="2265660"/>
            <a:ext cx="1722593" cy="147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0.06030</a:t>
            </a:r>
            <a:endParaRPr lang="en-US" sz="1200" dirty="0"/>
          </a:p>
        </p:txBody>
      </p:sp>
      <p:sp>
        <p:nvSpPr>
          <p:cNvPr id="30" name="Shape 19">
            <a:extLst>
              <a:ext uri="{FF2B5EF4-FFF2-40B4-BE49-F238E27FC236}">
                <a16:creationId xmlns:a16="http://schemas.microsoft.com/office/drawing/2014/main" id="{0F20EFF3-BFC9-5BD1-F385-37772A784C68}"/>
              </a:ext>
            </a:extLst>
          </p:cNvPr>
          <p:cNvSpPr/>
          <p:nvPr/>
        </p:nvSpPr>
        <p:spPr>
          <a:xfrm>
            <a:off x="10160837" y="2172593"/>
            <a:ext cx="1428913" cy="333177"/>
          </a:xfrm>
          <a:prstGeom prst="rect">
            <a:avLst/>
          </a:prstGeom>
          <a:solidFill>
            <a:srgbClr val="B8C9E6"/>
          </a:solidFill>
          <a:ln/>
        </p:spPr>
      </p:sp>
      <p:sp>
        <p:nvSpPr>
          <p:cNvPr id="31" name="Text 20">
            <a:extLst>
              <a:ext uri="{FF2B5EF4-FFF2-40B4-BE49-F238E27FC236}">
                <a16:creationId xmlns:a16="http://schemas.microsoft.com/office/drawing/2014/main" id="{1CFF3F40-A714-9E6C-2B11-0C3A148A2772}"/>
              </a:ext>
            </a:extLst>
          </p:cNvPr>
          <p:cNvSpPr/>
          <p:nvPr/>
        </p:nvSpPr>
        <p:spPr>
          <a:xfrm>
            <a:off x="10318790" y="2265660"/>
            <a:ext cx="1725768" cy="147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0.07730</a:t>
            </a:r>
            <a:endParaRPr lang="en-US" sz="1200" dirty="0"/>
          </a:p>
        </p:txBody>
      </p:sp>
      <p:sp>
        <p:nvSpPr>
          <p:cNvPr id="32" name="Text 21">
            <a:extLst>
              <a:ext uri="{FF2B5EF4-FFF2-40B4-BE49-F238E27FC236}">
                <a16:creationId xmlns:a16="http://schemas.microsoft.com/office/drawing/2014/main" id="{98D0E557-EAF5-1466-CDB9-236FD3C37DED}"/>
              </a:ext>
            </a:extLst>
          </p:cNvPr>
          <p:cNvSpPr/>
          <p:nvPr/>
        </p:nvSpPr>
        <p:spPr>
          <a:xfrm>
            <a:off x="6452232" y="2598837"/>
            <a:ext cx="2731325" cy="147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text-only</a:t>
            </a:r>
            <a:endParaRPr lang="en-US" sz="120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1EF819F8-461D-79C6-5297-C11307E62287}"/>
              </a:ext>
            </a:extLst>
          </p:cNvPr>
          <p:cNvSpPr/>
          <p:nvPr/>
        </p:nvSpPr>
        <p:spPr>
          <a:xfrm>
            <a:off x="8889877" y="2598837"/>
            <a:ext cx="1722593" cy="147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0.14675</a:t>
            </a:r>
            <a:endParaRPr lang="en-US" sz="1200" dirty="0"/>
          </a:p>
        </p:txBody>
      </p:sp>
      <p:sp>
        <p:nvSpPr>
          <p:cNvPr id="34" name="Text 23">
            <a:extLst>
              <a:ext uri="{FF2B5EF4-FFF2-40B4-BE49-F238E27FC236}">
                <a16:creationId xmlns:a16="http://schemas.microsoft.com/office/drawing/2014/main" id="{7B3631E0-CD7A-B700-40E8-F8854547ABFB}"/>
              </a:ext>
            </a:extLst>
          </p:cNvPr>
          <p:cNvSpPr/>
          <p:nvPr/>
        </p:nvSpPr>
        <p:spPr>
          <a:xfrm>
            <a:off x="10318790" y="2598837"/>
            <a:ext cx="1725768" cy="147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0.14537</a:t>
            </a:r>
            <a:endParaRPr lang="en-US" sz="1200" dirty="0"/>
          </a:p>
        </p:txBody>
      </p:sp>
      <p:sp>
        <p:nvSpPr>
          <p:cNvPr id="35" name="Shape 24">
            <a:extLst>
              <a:ext uri="{FF2B5EF4-FFF2-40B4-BE49-F238E27FC236}">
                <a16:creationId xmlns:a16="http://schemas.microsoft.com/office/drawing/2014/main" id="{A8BF620E-8F6A-0B7E-6005-6E827F749AD0}"/>
              </a:ext>
            </a:extLst>
          </p:cNvPr>
          <p:cNvSpPr/>
          <p:nvPr/>
        </p:nvSpPr>
        <p:spPr>
          <a:xfrm>
            <a:off x="6297455" y="2838946"/>
            <a:ext cx="2434470" cy="333177"/>
          </a:xfrm>
          <a:prstGeom prst="rect">
            <a:avLst/>
          </a:prstGeom>
          <a:solidFill>
            <a:srgbClr val="B8C9E6"/>
          </a:solidFill>
          <a:ln/>
        </p:spPr>
      </p:sp>
      <p:sp>
        <p:nvSpPr>
          <p:cNvPr id="36" name="Text 25">
            <a:extLst>
              <a:ext uri="{FF2B5EF4-FFF2-40B4-BE49-F238E27FC236}">
                <a16:creationId xmlns:a16="http://schemas.microsoft.com/office/drawing/2014/main" id="{C7F020A6-4AF2-7EA6-64AC-6BD5D54C2124}"/>
              </a:ext>
            </a:extLst>
          </p:cNvPr>
          <p:cNvSpPr/>
          <p:nvPr/>
        </p:nvSpPr>
        <p:spPr>
          <a:xfrm>
            <a:off x="6452232" y="2932013"/>
            <a:ext cx="2731325" cy="147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calibrated market</a:t>
            </a:r>
            <a:endParaRPr lang="en-US" sz="1200" dirty="0"/>
          </a:p>
        </p:txBody>
      </p:sp>
      <p:sp>
        <p:nvSpPr>
          <p:cNvPr id="37" name="Shape 26">
            <a:extLst>
              <a:ext uri="{FF2B5EF4-FFF2-40B4-BE49-F238E27FC236}">
                <a16:creationId xmlns:a16="http://schemas.microsoft.com/office/drawing/2014/main" id="{C0464A6D-B34E-60D8-8A58-02D0E3CE09FE}"/>
              </a:ext>
            </a:extLst>
          </p:cNvPr>
          <p:cNvSpPr/>
          <p:nvPr/>
        </p:nvSpPr>
        <p:spPr>
          <a:xfrm>
            <a:off x="8731925" y="2838946"/>
            <a:ext cx="1428913" cy="333177"/>
          </a:xfrm>
          <a:prstGeom prst="rect">
            <a:avLst/>
          </a:prstGeom>
          <a:solidFill>
            <a:srgbClr val="B8C9E6"/>
          </a:solidFill>
          <a:ln/>
        </p:spPr>
      </p:sp>
      <p:sp>
        <p:nvSpPr>
          <p:cNvPr id="38" name="Text 27">
            <a:extLst>
              <a:ext uri="{FF2B5EF4-FFF2-40B4-BE49-F238E27FC236}">
                <a16:creationId xmlns:a16="http://schemas.microsoft.com/office/drawing/2014/main" id="{D658870C-197F-97F8-DF7C-2CE5A04F2FCB}"/>
              </a:ext>
            </a:extLst>
          </p:cNvPr>
          <p:cNvSpPr/>
          <p:nvPr/>
        </p:nvSpPr>
        <p:spPr>
          <a:xfrm>
            <a:off x="8889877" y="2932013"/>
            <a:ext cx="1722593" cy="147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0.05932</a:t>
            </a:r>
            <a:endParaRPr lang="en-US" sz="1200" dirty="0"/>
          </a:p>
        </p:txBody>
      </p:sp>
      <p:sp>
        <p:nvSpPr>
          <p:cNvPr id="39" name="Shape 28">
            <a:extLst>
              <a:ext uri="{FF2B5EF4-FFF2-40B4-BE49-F238E27FC236}">
                <a16:creationId xmlns:a16="http://schemas.microsoft.com/office/drawing/2014/main" id="{C42DE536-EC2C-8721-A0F2-B5A93C724C13}"/>
              </a:ext>
            </a:extLst>
          </p:cNvPr>
          <p:cNvSpPr/>
          <p:nvPr/>
        </p:nvSpPr>
        <p:spPr>
          <a:xfrm>
            <a:off x="10160837" y="2838946"/>
            <a:ext cx="1428913" cy="333177"/>
          </a:xfrm>
          <a:prstGeom prst="rect">
            <a:avLst/>
          </a:prstGeom>
          <a:solidFill>
            <a:srgbClr val="B8C9E6"/>
          </a:solidFill>
          <a:ln/>
        </p:spPr>
      </p:sp>
      <p:sp>
        <p:nvSpPr>
          <p:cNvPr id="40" name="Text 29">
            <a:extLst>
              <a:ext uri="{FF2B5EF4-FFF2-40B4-BE49-F238E27FC236}">
                <a16:creationId xmlns:a16="http://schemas.microsoft.com/office/drawing/2014/main" id="{3DE3E008-63E1-1232-4B62-40331CA3B67A}"/>
              </a:ext>
            </a:extLst>
          </p:cNvPr>
          <p:cNvSpPr/>
          <p:nvPr/>
        </p:nvSpPr>
        <p:spPr>
          <a:xfrm>
            <a:off x="10318790" y="2932013"/>
            <a:ext cx="1725768" cy="147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0.07572</a:t>
            </a:r>
            <a:endParaRPr lang="en-US" sz="1200" dirty="0"/>
          </a:p>
        </p:txBody>
      </p:sp>
      <p:sp>
        <p:nvSpPr>
          <p:cNvPr id="41" name="Text 30">
            <a:extLst>
              <a:ext uri="{FF2B5EF4-FFF2-40B4-BE49-F238E27FC236}">
                <a16:creationId xmlns:a16="http://schemas.microsoft.com/office/drawing/2014/main" id="{815719D8-92B0-0D5C-9851-FB69244F8E5E}"/>
              </a:ext>
            </a:extLst>
          </p:cNvPr>
          <p:cNvSpPr/>
          <p:nvPr/>
        </p:nvSpPr>
        <p:spPr>
          <a:xfrm>
            <a:off x="6452232" y="3265190"/>
            <a:ext cx="2731325" cy="147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raw polymarket</a:t>
            </a:r>
            <a:endParaRPr lang="en-US" sz="1200" dirty="0"/>
          </a:p>
        </p:txBody>
      </p:sp>
      <p:sp>
        <p:nvSpPr>
          <p:cNvPr id="42" name="Text 31">
            <a:extLst>
              <a:ext uri="{FF2B5EF4-FFF2-40B4-BE49-F238E27FC236}">
                <a16:creationId xmlns:a16="http://schemas.microsoft.com/office/drawing/2014/main" id="{459735E0-F6EB-1B61-5A2C-D79C9B02A8B3}"/>
              </a:ext>
            </a:extLst>
          </p:cNvPr>
          <p:cNvSpPr/>
          <p:nvPr/>
        </p:nvSpPr>
        <p:spPr>
          <a:xfrm>
            <a:off x="8889877" y="3265190"/>
            <a:ext cx="1722593" cy="147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0.05950</a:t>
            </a:r>
            <a:endParaRPr lang="en-US" sz="1200" dirty="0"/>
          </a:p>
        </p:txBody>
      </p:sp>
      <p:sp>
        <p:nvSpPr>
          <p:cNvPr id="43" name="Text 32">
            <a:extLst>
              <a:ext uri="{FF2B5EF4-FFF2-40B4-BE49-F238E27FC236}">
                <a16:creationId xmlns:a16="http://schemas.microsoft.com/office/drawing/2014/main" id="{F2C94FA4-003F-E37A-2875-102CF4F8E2A2}"/>
              </a:ext>
            </a:extLst>
          </p:cNvPr>
          <p:cNvSpPr/>
          <p:nvPr/>
        </p:nvSpPr>
        <p:spPr>
          <a:xfrm>
            <a:off x="10318790" y="3265190"/>
            <a:ext cx="1725768" cy="147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0.07683</a:t>
            </a:r>
            <a:endParaRPr lang="en-US" sz="1200" dirty="0"/>
          </a:p>
        </p:txBody>
      </p:sp>
      <p:sp>
        <p:nvSpPr>
          <p:cNvPr id="44" name="Text 33">
            <a:extLst>
              <a:ext uri="{FF2B5EF4-FFF2-40B4-BE49-F238E27FC236}">
                <a16:creationId xmlns:a16="http://schemas.microsoft.com/office/drawing/2014/main" id="{E59129D7-8D19-6704-9C7E-E120CF718E67}"/>
              </a:ext>
            </a:extLst>
          </p:cNvPr>
          <p:cNvSpPr/>
          <p:nvPr/>
        </p:nvSpPr>
        <p:spPr>
          <a:xfrm>
            <a:off x="6291006" y="3665141"/>
            <a:ext cx="5305094" cy="538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79000"/>
              </a:lnSpc>
              <a:buSzPct val="100000"/>
              <a:buChar char="•"/>
            </a:pPr>
            <a:r>
              <a:rPr lang="en-US" sz="12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baseline очень сильный, потому что почти всегда использует рынок</a:t>
            </a:r>
            <a:endParaRPr lang="en-US" sz="1200" dirty="0"/>
          </a:p>
          <a:p>
            <a:pPr marL="342900" indent="-342900" algn="l">
              <a:lnSpc>
                <a:spcPct val="79000"/>
              </a:lnSpc>
              <a:buSzPct val="100000"/>
              <a:buChar char="•"/>
            </a:pPr>
            <a:r>
              <a:rPr lang="en-US" sz="12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текстовая ветка значительно слабее</a:t>
            </a:r>
            <a:endParaRPr lang="en-US" sz="1200" dirty="0"/>
          </a:p>
          <a:p>
            <a:pPr marL="342900" indent="-342900" algn="l">
              <a:lnSpc>
                <a:spcPct val="79000"/>
              </a:lnSpc>
              <a:buSzPct val="100000"/>
              <a:buChar char="•"/>
            </a:pPr>
            <a:r>
              <a:rPr lang="en-US" sz="12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это верхняя практическая планка, а не честная news-only модель</a:t>
            </a:r>
            <a:endParaRPr lang="en-US" sz="1200" dirty="0"/>
          </a:p>
        </p:txBody>
      </p:sp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C9C3F8BE-5688-ECA2-8F97-4B42DAFEE7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2563" y="4389934"/>
            <a:ext cx="2565459" cy="2468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732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A00A4-7F82-DB06-15AF-1C643B50A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25D493E3-DC10-9E77-D801-95CB95D4847C}"/>
              </a:ext>
            </a:extLst>
          </p:cNvPr>
          <p:cNvSpPr/>
          <p:nvPr/>
        </p:nvSpPr>
        <p:spPr>
          <a:xfrm>
            <a:off x="601846" y="1341153"/>
            <a:ext cx="4909122" cy="430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600" dirty="0">
                <a:solidFill>
                  <a:schemeClr val="accent1"/>
                </a:solidFill>
                <a:latin typeface="Times New Roman" panose="02020603050405020304" pitchFamily="18" charset="0"/>
                <a:ea typeface="Spectral SemiBold" pitchFamily="34" charset="-122"/>
                <a:cs typeface="Times New Roman" panose="02020603050405020304" pitchFamily="18" charset="0"/>
              </a:rPr>
              <a:t>Базовая модель</a:t>
            </a:r>
            <a:endParaRPr lang="en-US" sz="3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AC76C107-F427-275D-D4FA-9EEA98084D36}"/>
              </a:ext>
            </a:extLst>
          </p:cNvPr>
          <p:cNvSpPr/>
          <p:nvPr/>
        </p:nvSpPr>
        <p:spPr>
          <a:xfrm>
            <a:off x="602151" y="3271657"/>
            <a:ext cx="11589849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Мы </a:t>
            </a:r>
            <a:r>
              <a:rPr lang="en-US" sz="1650" dirty="0" err="1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выбрали</a:t>
            </a:r>
            <a:r>
              <a:rPr lang="en-US" sz="165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650" b="1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Qwen</a:t>
            </a:r>
            <a:r>
              <a:rPr lang="ru-RU" sz="1650" b="1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2.5</a:t>
            </a:r>
            <a:r>
              <a:rPr lang="en-US" sz="1650" b="1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-1.</a:t>
            </a:r>
            <a:r>
              <a:rPr lang="ru-RU" sz="1650" b="1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</a:t>
            </a:r>
            <a:r>
              <a:rPr lang="en-US" sz="1650" b="1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</a:t>
            </a:r>
            <a:r>
              <a:rPr lang="ru-RU" sz="1650" b="1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-</a:t>
            </a:r>
            <a:r>
              <a:rPr lang="en-US" sz="1650" b="1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Instruct </a:t>
            </a:r>
            <a:r>
              <a:rPr lang="en-US" sz="165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 качестве базовой модели для </a:t>
            </a:r>
            <a:r>
              <a:rPr lang="en-US" sz="1650" dirty="0" err="1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вероятностного</a:t>
            </a:r>
            <a:r>
              <a:rPr lang="en-US" sz="165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650" dirty="0" err="1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прогнозирования</a:t>
            </a:r>
            <a:endParaRPr lang="en-US" sz="1650" dirty="0">
              <a:solidFill>
                <a:srgbClr val="4D4D4D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в домене поп-культуры.</a:t>
            </a:r>
            <a:endParaRPr lang="en-US" sz="1650" dirty="0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CA6FC723-350F-C804-6FB5-C825C62EBB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2796" y="4474065"/>
            <a:ext cx="3538449" cy="1431032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FF850C51-39EC-D8D1-D4FF-6EFC40B50094}"/>
              </a:ext>
            </a:extLst>
          </p:cNvPr>
          <p:cNvSpPr/>
          <p:nvPr/>
        </p:nvSpPr>
        <p:spPr>
          <a:xfrm>
            <a:off x="811887" y="4493115"/>
            <a:ext cx="3309359" cy="430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Почему выбрана компактная модель?</a:t>
            </a:r>
            <a:endParaRPr lang="en-US" sz="165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ECE92879-B955-05B1-678D-9580DE808B2E}"/>
              </a:ext>
            </a:extLst>
          </p:cNvPr>
          <p:cNvSpPr/>
          <p:nvPr/>
        </p:nvSpPr>
        <p:spPr>
          <a:xfrm>
            <a:off x="811887" y="5026316"/>
            <a:ext cx="3309359" cy="1981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Меньший размер обеспечивает эффективную обработку и снижение вычислительных затрат, что критически важно для быстрых экспериментов.</a:t>
            </a:r>
            <a:endParaRPr lang="en-US" sz="1400" dirty="0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9350D6FD-B240-1FC8-1B15-B1D837F47F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17098" y="4474065"/>
            <a:ext cx="3538449" cy="1431032"/>
          </a:xfrm>
          <a:prstGeom prst="rect">
            <a:avLst/>
          </a:prstGeom>
        </p:spPr>
      </p:pic>
      <p:sp>
        <p:nvSpPr>
          <p:cNvPr id="14" name="Text 4">
            <a:extLst>
              <a:ext uri="{FF2B5EF4-FFF2-40B4-BE49-F238E27FC236}">
                <a16:creationId xmlns:a16="http://schemas.microsoft.com/office/drawing/2014/main" id="{4B69D189-0932-B560-8650-A3071A5E12A5}"/>
              </a:ext>
            </a:extLst>
          </p:cNvPr>
          <p:cNvSpPr/>
          <p:nvPr/>
        </p:nvSpPr>
        <p:spPr>
          <a:xfrm>
            <a:off x="4546189" y="4493115"/>
            <a:ext cx="2334757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Локальный fine-tuning</a:t>
            </a:r>
            <a:endParaRPr lang="en-US" sz="165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9FAB5194-C062-CF2B-AF75-44DB98F08D5F}"/>
              </a:ext>
            </a:extLst>
          </p:cNvPr>
          <p:cNvSpPr/>
          <p:nvPr/>
        </p:nvSpPr>
        <p:spPr>
          <a:xfrm>
            <a:off x="4627495" y="5026316"/>
            <a:ext cx="3309359" cy="2196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Компактность модели делает локальный fine-tuning возможным </a:t>
            </a:r>
            <a:r>
              <a:rPr lang="en-US" sz="1400" dirty="0" err="1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на</a:t>
            </a:r>
            <a:r>
              <a:rPr lang="en-US" sz="14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ru-RU" sz="14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бюджетном</a:t>
            </a:r>
            <a:r>
              <a:rPr lang="en-US" sz="14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оборудовании, ускоряя циклы разработки и итераций.</a:t>
            </a:r>
            <a:endParaRPr lang="en-US" sz="1400" dirty="0"/>
          </a:p>
        </p:txBody>
      </p:sp>
      <p:pic>
        <p:nvPicPr>
          <p:cNvPr id="16" name="Image 2" descr="preencoded.png">
            <a:extLst>
              <a:ext uri="{FF2B5EF4-FFF2-40B4-BE49-F238E27FC236}">
                <a16:creationId xmlns:a16="http://schemas.microsoft.com/office/drawing/2014/main" id="{507013EA-75AD-C282-6280-6596CEBEFE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51400" y="4474065"/>
            <a:ext cx="3538449" cy="1431032"/>
          </a:xfrm>
          <a:prstGeom prst="rect">
            <a:avLst/>
          </a:prstGeom>
        </p:spPr>
      </p:pic>
      <p:sp>
        <p:nvSpPr>
          <p:cNvPr id="17" name="Text 6">
            <a:extLst>
              <a:ext uri="{FF2B5EF4-FFF2-40B4-BE49-F238E27FC236}">
                <a16:creationId xmlns:a16="http://schemas.microsoft.com/office/drawing/2014/main" id="{BFD3B30A-1165-BE84-9D5D-20542F5944AA}"/>
              </a:ext>
            </a:extLst>
          </p:cNvPr>
          <p:cNvSpPr/>
          <p:nvPr/>
        </p:nvSpPr>
        <p:spPr>
          <a:xfrm>
            <a:off x="8280491" y="4493115"/>
            <a:ext cx="3309359" cy="430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Воспроизводимость экспериментов</a:t>
            </a:r>
            <a:endParaRPr lang="en-US" sz="1650" dirty="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2476C10A-B7E5-76EE-DA34-01116B009E92}"/>
              </a:ext>
            </a:extLst>
          </p:cNvPr>
          <p:cNvSpPr/>
          <p:nvPr/>
        </p:nvSpPr>
        <p:spPr>
          <a:xfrm>
            <a:off x="8280491" y="5026317"/>
            <a:ext cx="3309359" cy="15451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Меньший размер модели упрощает настройку окружения, обеспечивая согласованные и воспроизводимые результаты экспериментов в различных исследовательских условиях.</a:t>
            </a:r>
            <a:endParaRPr lang="en-US" sz="1400" dirty="0"/>
          </a:p>
        </p:txBody>
      </p:sp>
      <p:pic>
        <p:nvPicPr>
          <p:cNvPr id="120" name="Рисунок 119">
            <a:extLst>
              <a:ext uri="{FF2B5EF4-FFF2-40B4-BE49-F238E27FC236}">
                <a16:creationId xmlns:a16="http://schemas.microsoft.com/office/drawing/2014/main" id="{79045A35-44B9-07E1-C772-DAB47BA07D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356166" y="-1170166"/>
            <a:ext cx="2762549" cy="490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116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D6C10-D984-8A0B-95D3-B4A2C433E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5AED0E86-437C-61F2-BF44-2F9BC14ED4D4}"/>
              </a:ext>
            </a:extLst>
          </p:cNvPr>
          <p:cNvSpPr/>
          <p:nvPr/>
        </p:nvSpPr>
        <p:spPr>
          <a:xfrm>
            <a:off x="601846" y="776982"/>
            <a:ext cx="4694120" cy="408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200" dirty="0">
                <a:solidFill>
                  <a:schemeClr val="accent1"/>
                </a:solidFill>
                <a:latin typeface="Times New Roman" panose="02020603050405020304" pitchFamily="18" charset="0"/>
                <a:ea typeface="Spectral SemiBold" pitchFamily="34" charset="-122"/>
                <a:cs typeface="Times New Roman" panose="02020603050405020304" pitchFamily="18" charset="0"/>
              </a:rPr>
              <a:t>Обучение модели</a:t>
            </a:r>
            <a:endParaRPr lang="en-US" sz="32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9B0035F8-1AE5-CCCC-B3C8-C48A3D4992DB}"/>
              </a:ext>
            </a:extLst>
          </p:cNvPr>
          <p:cNvSpPr/>
          <p:nvPr/>
        </p:nvSpPr>
        <p:spPr>
          <a:xfrm>
            <a:off x="601846" y="1495822"/>
            <a:ext cx="10988003" cy="398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16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Наш подход к обучению модели фокусируется на специализированной адаптации для достижения высокой точности прогнозирования.</a:t>
            </a:r>
            <a:endParaRPr lang="en-US" sz="1600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D56D5E6D-C5F4-43F6-E9FB-D93EA7E427DF}"/>
              </a:ext>
            </a:extLst>
          </p:cNvPr>
          <p:cNvSpPr/>
          <p:nvPr/>
        </p:nvSpPr>
        <p:spPr>
          <a:xfrm>
            <a:off x="601846" y="2068413"/>
            <a:ext cx="3559185" cy="2110383"/>
          </a:xfrm>
          <a:prstGeom prst="roundRect">
            <a:avLst>
              <a:gd name="adj" fmla="val 1161"/>
            </a:avLst>
          </a:prstGeom>
          <a:solidFill>
            <a:schemeClr val="bg2"/>
          </a:solidFill>
          <a:ln/>
          <a:effectLst>
            <a:softEdge rad="63500"/>
          </a:effectLst>
        </p:spPr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3CFC96D0-676B-0F01-2E73-08374E73352D}"/>
              </a:ext>
            </a:extLst>
          </p:cNvPr>
          <p:cNvSpPr/>
          <p:nvPr/>
        </p:nvSpPr>
        <p:spPr>
          <a:xfrm>
            <a:off x="765156" y="2231727"/>
            <a:ext cx="490128" cy="490141"/>
          </a:xfrm>
          <a:prstGeom prst="roundRect">
            <a:avLst>
              <a:gd name="adj" fmla="val 15545016"/>
            </a:avLst>
          </a:prstGeom>
          <a:solidFill>
            <a:srgbClr val="E4E5E5"/>
          </a:solidFill>
          <a:ln/>
        </p:spPr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0C83BE40-CC4D-0770-9959-4C5EAD3966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9892" y="2366466"/>
            <a:ext cx="220558" cy="220563"/>
          </a:xfrm>
          <a:prstGeom prst="rect">
            <a:avLst/>
          </a:prstGeom>
        </p:spPr>
      </p:pic>
      <p:sp>
        <p:nvSpPr>
          <p:cNvPr id="13" name="Text 4">
            <a:extLst>
              <a:ext uri="{FF2B5EF4-FFF2-40B4-BE49-F238E27FC236}">
                <a16:creationId xmlns:a16="http://schemas.microsoft.com/office/drawing/2014/main" id="{3ECF90EF-294F-2AAC-4316-03386D7B9BAD}"/>
              </a:ext>
            </a:extLst>
          </p:cNvPr>
          <p:cNvSpPr/>
          <p:nvPr/>
        </p:nvSpPr>
        <p:spPr>
          <a:xfrm>
            <a:off x="765156" y="2877046"/>
            <a:ext cx="2042268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Domain adaptation</a:t>
            </a:r>
            <a:endParaRPr lang="en-US" sz="16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ACD913D3-2AE0-7D17-3E9B-E42E579D6077}"/>
              </a:ext>
            </a:extLst>
          </p:cNvPr>
          <p:cNvSpPr/>
          <p:nvPr/>
        </p:nvSpPr>
        <p:spPr>
          <a:xfrm>
            <a:off x="765156" y="3174305"/>
            <a:ext cx="3232565" cy="715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125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Модель адаптируется к уникальному языку и паттернам домена поп-культуры, что повышает релевантность и точность прогнозов.</a:t>
            </a:r>
            <a:endParaRPr lang="en-US" sz="125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6F40E397-889C-7C63-2439-B415CB41A828}"/>
              </a:ext>
            </a:extLst>
          </p:cNvPr>
          <p:cNvSpPr/>
          <p:nvPr/>
        </p:nvSpPr>
        <p:spPr>
          <a:xfrm>
            <a:off x="4316205" y="2068413"/>
            <a:ext cx="3559185" cy="2110383"/>
          </a:xfrm>
          <a:prstGeom prst="roundRect">
            <a:avLst>
              <a:gd name="adj" fmla="val 1161"/>
            </a:avLst>
          </a:prstGeom>
          <a:solidFill>
            <a:schemeClr val="bg2"/>
          </a:solidFill>
          <a:ln/>
          <a:effectLst>
            <a:softEdge rad="63500"/>
          </a:effectLst>
        </p:spPr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AFB9CD91-6DC8-32F7-049F-6D54AB125F79}"/>
              </a:ext>
            </a:extLst>
          </p:cNvPr>
          <p:cNvSpPr/>
          <p:nvPr/>
        </p:nvSpPr>
        <p:spPr>
          <a:xfrm>
            <a:off x="4479515" y="2231727"/>
            <a:ext cx="490128" cy="490141"/>
          </a:xfrm>
          <a:prstGeom prst="roundRect">
            <a:avLst>
              <a:gd name="adj" fmla="val 15545016"/>
            </a:avLst>
          </a:prstGeom>
          <a:solidFill>
            <a:srgbClr val="E4E5E5"/>
          </a:solidFill>
          <a:ln/>
        </p:spPr>
      </p:sp>
      <p:pic>
        <p:nvPicPr>
          <p:cNvPr id="17" name="Image 1" descr="preencoded.png">
            <a:extLst>
              <a:ext uri="{FF2B5EF4-FFF2-40B4-BE49-F238E27FC236}">
                <a16:creationId xmlns:a16="http://schemas.microsoft.com/office/drawing/2014/main" id="{0C7CF5F4-464D-824A-CE70-69683F128D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4251" y="2366466"/>
            <a:ext cx="220558" cy="220563"/>
          </a:xfrm>
          <a:prstGeom prst="rect">
            <a:avLst/>
          </a:prstGeom>
        </p:spPr>
      </p:pic>
      <p:sp>
        <p:nvSpPr>
          <p:cNvPr id="18" name="Text 8">
            <a:extLst>
              <a:ext uri="{FF2B5EF4-FFF2-40B4-BE49-F238E27FC236}">
                <a16:creationId xmlns:a16="http://schemas.microsoft.com/office/drawing/2014/main" id="{76AA1664-F5D8-CCA4-0326-6DBB01F44006}"/>
              </a:ext>
            </a:extLst>
          </p:cNvPr>
          <p:cNvSpPr/>
          <p:nvPr/>
        </p:nvSpPr>
        <p:spPr>
          <a:xfrm>
            <a:off x="4479515" y="2877046"/>
            <a:ext cx="2042268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Fine-tuning pipeline</a:t>
            </a:r>
            <a:endParaRPr lang="en-US" sz="1600" dirty="0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924D6038-CF16-D15B-0B03-2BF4F35D5D28}"/>
              </a:ext>
            </a:extLst>
          </p:cNvPr>
          <p:cNvSpPr/>
          <p:nvPr/>
        </p:nvSpPr>
        <p:spPr>
          <a:xfrm>
            <a:off x="4479515" y="3174304"/>
            <a:ext cx="3232565" cy="876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81000"/>
              </a:lnSpc>
            </a:pPr>
            <a:r>
              <a:rPr lang="ru-RU" sz="1400" dirty="0"/>
              <a:t>Во вход модели подаются вопрос, дата закрытия и сжатый новостной контекст. Используются </a:t>
            </a:r>
            <a:r>
              <a:rPr lang="ru-RU" sz="1400" dirty="0" err="1"/>
              <a:t>такжеLoRA</a:t>
            </a:r>
            <a:r>
              <a:rPr lang="ru-RU" sz="1400" dirty="0"/>
              <a:t>-адаптеры и ограниченный по длине вход.</a:t>
            </a:r>
            <a:r>
              <a:rPr lang="en-US" sz="125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250" dirty="0"/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05170CD1-D337-2B69-8A38-45C7F8D49C3B}"/>
              </a:ext>
            </a:extLst>
          </p:cNvPr>
          <p:cNvSpPr/>
          <p:nvPr/>
        </p:nvSpPr>
        <p:spPr>
          <a:xfrm>
            <a:off x="8030565" y="2068413"/>
            <a:ext cx="3559284" cy="2110383"/>
          </a:xfrm>
          <a:prstGeom prst="roundRect">
            <a:avLst>
              <a:gd name="adj" fmla="val 1161"/>
            </a:avLst>
          </a:prstGeom>
          <a:solidFill>
            <a:schemeClr val="bg2"/>
          </a:solidFill>
          <a:ln/>
          <a:effectLst>
            <a:softEdge rad="63500"/>
          </a:effectLst>
        </p:spPr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EC8AD50B-A8A5-65E9-8C3A-5F5CFD7948AA}"/>
              </a:ext>
            </a:extLst>
          </p:cNvPr>
          <p:cNvSpPr/>
          <p:nvPr/>
        </p:nvSpPr>
        <p:spPr>
          <a:xfrm>
            <a:off x="8193875" y="2231727"/>
            <a:ext cx="490128" cy="490141"/>
          </a:xfrm>
          <a:prstGeom prst="roundRect">
            <a:avLst>
              <a:gd name="adj" fmla="val 15545016"/>
            </a:avLst>
          </a:prstGeom>
          <a:solidFill>
            <a:srgbClr val="E4E5E5"/>
          </a:solidFill>
          <a:ln/>
        </p:spPr>
      </p:sp>
      <p:pic>
        <p:nvPicPr>
          <p:cNvPr id="22" name="Image 2" descr="preencoded.png">
            <a:extLst>
              <a:ext uri="{FF2B5EF4-FFF2-40B4-BE49-F238E27FC236}">
                <a16:creationId xmlns:a16="http://schemas.microsoft.com/office/drawing/2014/main" id="{1F96FDA7-8ABA-5E97-B11A-5E60893D1B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28610" y="2366466"/>
            <a:ext cx="220558" cy="220563"/>
          </a:xfrm>
          <a:prstGeom prst="rect">
            <a:avLst/>
          </a:prstGeom>
        </p:spPr>
      </p:pic>
      <p:sp>
        <p:nvSpPr>
          <p:cNvPr id="23" name="Text 12">
            <a:extLst>
              <a:ext uri="{FF2B5EF4-FFF2-40B4-BE49-F238E27FC236}">
                <a16:creationId xmlns:a16="http://schemas.microsoft.com/office/drawing/2014/main" id="{A012D3A0-5DB5-BC8D-9552-51F8BF30A361}"/>
              </a:ext>
            </a:extLst>
          </p:cNvPr>
          <p:cNvSpPr/>
          <p:nvPr/>
        </p:nvSpPr>
        <p:spPr>
          <a:xfrm>
            <a:off x="8193875" y="2877046"/>
            <a:ext cx="3232664" cy="408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/>
              <a:t>SFT</a:t>
            </a:r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CAD3A732-DE7E-3827-38AB-8FD1BE32F6A5}"/>
              </a:ext>
            </a:extLst>
          </p:cNvPr>
          <p:cNvSpPr/>
          <p:nvPr/>
        </p:nvSpPr>
        <p:spPr>
          <a:xfrm>
            <a:off x="8193875" y="3122116"/>
            <a:ext cx="3232664" cy="827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81000"/>
              </a:lnSpc>
            </a:pPr>
            <a:r>
              <a:rPr lang="ru-RU" sz="1400" dirty="0"/>
              <a:t>Основной рабочий режим проекта. Модель обучается по размеченным примерам: вопрос + новости → вероятность YES. </a:t>
            </a:r>
            <a:endParaRPr lang="en-US" sz="1250" dirty="0"/>
          </a:p>
        </p:txBody>
      </p:sp>
      <p:sp>
        <p:nvSpPr>
          <p:cNvPr id="25" name="Shape 14">
            <a:extLst>
              <a:ext uri="{FF2B5EF4-FFF2-40B4-BE49-F238E27FC236}">
                <a16:creationId xmlns:a16="http://schemas.microsoft.com/office/drawing/2014/main" id="{EE9FE2B9-E223-31DA-2AE1-BCEDA64E60D5}"/>
              </a:ext>
            </a:extLst>
          </p:cNvPr>
          <p:cNvSpPr/>
          <p:nvPr/>
        </p:nvSpPr>
        <p:spPr>
          <a:xfrm>
            <a:off x="601846" y="4333974"/>
            <a:ext cx="5416414" cy="1746945"/>
          </a:xfrm>
          <a:prstGeom prst="roundRect">
            <a:avLst>
              <a:gd name="adj" fmla="val 1403"/>
            </a:avLst>
          </a:prstGeom>
          <a:solidFill>
            <a:schemeClr val="bg2"/>
          </a:solidFill>
          <a:ln/>
          <a:effectLst>
            <a:softEdge rad="63500"/>
          </a:effectLst>
        </p:spPr>
      </p:sp>
      <p:sp>
        <p:nvSpPr>
          <p:cNvPr id="26" name="Shape 15">
            <a:extLst>
              <a:ext uri="{FF2B5EF4-FFF2-40B4-BE49-F238E27FC236}">
                <a16:creationId xmlns:a16="http://schemas.microsoft.com/office/drawing/2014/main" id="{D1DBC17A-8766-E17B-25F5-D89E667EF8EB}"/>
              </a:ext>
            </a:extLst>
          </p:cNvPr>
          <p:cNvSpPr/>
          <p:nvPr/>
        </p:nvSpPr>
        <p:spPr>
          <a:xfrm>
            <a:off x="765156" y="4497288"/>
            <a:ext cx="490128" cy="490141"/>
          </a:xfrm>
          <a:prstGeom prst="roundRect">
            <a:avLst>
              <a:gd name="adj" fmla="val 15545016"/>
            </a:avLst>
          </a:prstGeom>
          <a:solidFill>
            <a:srgbClr val="E4E5E5"/>
          </a:solidFill>
          <a:ln/>
        </p:spPr>
      </p:sp>
      <p:pic>
        <p:nvPicPr>
          <p:cNvPr id="27" name="Image 3" descr="preencoded.png">
            <a:extLst>
              <a:ext uri="{FF2B5EF4-FFF2-40B4-BE49-F238E27FC236}">
                <a16:creationId xmlns:a16="http://schemas.microsoft.com/office/drawing/2014/main" id="{CBBD86D6-93FA-D6E7-709F-60D0D445FF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9892" y="4632027"/>
            <a:ext cx="220558" cy="220563"/>
          </a:xfrm>
          <a:prstGeom prst="rect">
            <a:avLst/>
          </a:prstGeom>
        </p:spPr>
      </p:pic>
      <p:sp>
        <p:nvSpPr>
          <p:cNvPr id="28" name="Text 16">
            <a:extLst>
              <a:ext uri="{FF2B5EF4-FFF2-40B4-BE49-F238E27FC236}">
                <a16:creationId xmlns:a16="http://schemas.microsoft.com/office/drawing/2014/main" id="{FDEF9992-56A0-7E4C-7A6C-B56FA81BB258}"/>
              </a:ext>
            </a:extLst>
          </p:cNvPr>
          <p:cNvSpPr/>
          <p:nvPr/>
        </p:nvSpPr>
        <p:spPr>
          <a:xfrm>
            <a:off x="765156" y="5142607"/>
            <a:ext cx="2695904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Objective on forecasting task</a:t>
            </a:r>
            <a:endParaRPr lang="en-US" sz="1600" dirty="0"/>
          </a:p>
        </p:txBody>
      </p:sp>
      <p:sp>
        <p:nvSpPr>
          <p:cNvPr id="29" name="Text 17">
            <a:extLst>
              <a:ext uri="{FF2B5EF4-FFF2-40B4-BE49-F238E27FC236}">
                <a16:creationId xmlns:a16="http://schemas.microsoft.com/office/drawing/2014/main" id="{B5269233-0C3D-F41C-EB9F-FE560E9D5617}"/>
              </a:ext>
            </a:extLst>
          </p:cNvPr>
          <p:cNvSpPr/>
          <p:nvPr/>
        </p:nvSpPr>
        <p:spPr>
          <a:xfrm>
            <a:off x="765156" y="5439866"/>
            <a:ext cx="5089795" cy="477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125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Целевая функция обучения строго сфокусирована на вероятностном прогнозировании исходов, что критически важно для получения калиброванных вероятностей.</a:t>
            </a:r>
            <a:endParaRPr lang="en-US" sz="1250" dirty="0"/>
          </a:p>
        </p:txBody>
      </p:sp>
      <p:sp>
        <p:nvSpPr>
          <p:cNvPr id="30" name="Shape 18">
            <a:extLst>
              <a:ext uri="{FF2B5EF4-FFF2-40B4-BE49-F238E27FC236}">
                <a16:creationId xmlns:a16="http://schemas.microsoft.com/office/drawing/2014/main" id="{F98A928B-B46D-82E4-B380-A081DB8CDBC1}"/>
              </a:ext>
            </a:extLst>
          </p:cNvPr>
          <p:cNvSpPr/>
          <p:nvPr/>
        </p:nvSpPr>
        <p:spPr>
          <a:xfrm>
            <a:off x="6173435" y="4333974"/>
            <a:ext cx="5416414" cy="1746945"/>
          </a:xfrm>
          <a:prstGeom prst="roundRect">
            <a:avLst>
              <a:gd name="adj" fmla="val 1403"/>
            </a:avLst>
          </a:prstGeom>
          <a:solidFill>
            <a:schemeClr val="bg2"/>
          </a:solidFill>
          <a:ln/>
          <a:effectLst>
            <a:softEdge rad="63500"/>
          </a:effectLst>
        </p:spPr>
      </p:sp>
      <p:sp>
        <p:nvSpPr>
          <p:cNvPr id="31" name="Shape 19">
            <a:extLst>
              <a:ext uri="{FF2B5EF4-FFF2-40B4-BE49-F238E27FC236}">
                <a16:creationId xmlns:a16="http://schemas.microsoft.com/office/drawing/2014/main" id="{6174FC94-F3C2-6728-6843-8B7AFA68C298}"/>
              </a:ext>
            </a:extLst>
          </p:cNvPr>
          <p:cNvSpPr/>
          <p:nvPr/>
        </p:nvSpPr>
        <p:spPr>
          <a:xfrm>
            <a:off x="6336745" y="4497288"/>
            <a:ext cx="490128" cy="490141"/>
          </a:xfrm>
          <a:prstGeom prst="roundRect">
            <a:avLst>
              <a:gd name="adj" fmla="val 15545016"/>
            </a:avLst>
          </a:prstGeom>
          <a:solidFill>
            <a:srgbClr val="E4E5E5"/>
          </a:solidFill>
          <a:ln/>
        </p:spPr>
      </p:sp>
      <p:pic>
        <p:nvPicPr>
          <p:cNvPr id="32" name="Image 4" descr="preencoded.png">
            <a:extLst>
              <a:ext uri="{FF2B5EF4-FFF2-40B4-BE49-F238E27FC236}">
                <a16:creationId xmlns:a16="http://schemas.microsoft.com/office/drawing/2014/main" id="{AE72A15D-D7E4-A8DE-5E48-D3FB798523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1480" y="4632027"/>
            <a:ext cx="220558" cy="220563"/>
          </a:xfrm>
          <a:prstGeom prst="rect">
            <a:avLst/>
          </a:prstGeom>
        </p:spPr>
      </p:pic>
      <p:sp>
        <p:nvSpPr>
          <p:cNvPr id="33" name="Text 20">
            <a:extLst>
              <a:ext uri="{FF2B5EF4-FFF2-40B4-BE49-F238E27FC236}">
                <a16:creationId xmlns:a16="http://schemas.microsoft.com/office/drawing/2014/main" id="{C9388086-DC12-BFCB-9EAA-0F2A232DAD67}"/>
              </a:ext>
            </a:extLst>
          </p:cNvPr>
          <p:cNvSpPr/>
          <p:nvPr/>
        </p:nvSpPr>
        <p:spPr>
          <a:xfrm>
            <a:off x="6336745" y="5142607"/>
            <a:ext cx="2150711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Beyond text generation</a:t>
            </a:r>
            <a:endParaRPr lang="en-US" sz="1600" dirty="0"/>
          </a:p>
        </p:txBody>
      </p:sp>
      <p:sp>
        <p:nvSpPr>
          <p:cNvPr id="34" name="Text 21">
            <a:extLst>
              <a:ext uri="{FF2B5EF4-FFF2-40B4-BE49-F238E27FC236}">
                <a16:creationId xmlns:a16="http://schemas.microsoft.com/office/drawing/2014/main" id="{311D6D42-49B1-BEC1-70BA-632435E4D7F5}"/>
              </a:ext>
            </a:extLst>
          </p:cNvPr>
          <p:cNvSpPr/>
          <p:nvPr/>
        </p:nvSpPr>
        <p:spPr>
          <a:xfrm>
            <a:off x="6336745" y="5439866"/>
            <a:ext cx="5089795" cy="477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125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Задача выходит за рамки обычной генерации текста, требуя от модели не только понимания контекста, но и способности к принятию обоснованных прогностических решений.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233556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A582A-B315-7503-BB5F-2D910800D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C412F6E-E200-B26E-A5DB-D7FDB07B648F}"/>
              </a:ext>
            </a:extLst>
          </p:cNvPr>
          <p:cNvSpPr/>
          <p:nvPr/>
        </p:nvSpPr>
        <p:spPr>
          <a:xfrm>
            <a:off x="601945" y="605730"/>
            <a:ext cx="4479118" cy="386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600" dirty="0">
                <a:solidFill>
                  <a:schemeClr val="accent1"/>
                </a:solidFill>
                <a:latin typeface="Times New Roman" panose="02020603050405020304" pitchFamily="18" charset="0"/>
                <a:ea typeface="Spectral SemiBold" pitchFamily="34" charset="-122"/>
                <a:cs typeface="Times New Roman" panose="02020603050405020304" pitchFamily="18" charset="0"/>
              </a:rPr>
              <a:t>Сравнение метрик</a:t>
            </a:r>
            <a:endParaRPr lang="en-US" sz="3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Text 56">
            <a:extLst>
              <a:ext uri="{FF2B5EF4-FFF2-40B4-BE49-F238E27FC236}">
                <a16:creationId xmlns:a16="http://schemas.microsoft.com/office/drawing/2014/main" id="{973C4E38-6999-FD95-407E-8EF88F17BEFE}"/>
              </a:ext>
            </a:extLst>
          </p:cNvPr>
          <p:cNvSpPr/>
          <p:nvPr/>
        </p:nvSpPr>
        <p:spPr>
          <a:xfrm>
            <a:off x="8336746" y="972807"/>
            <a:ext cx="3705232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212423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Что видно из метрик</a:t>
            </a:r>
            <a:endParaRPr lang="en-US" sz="2400" dirty="0"/>
          </a:p>
        </p:txBody>
      </p:sp>
      <p:sp>
        <p:nvSpPr>
          <p:cNvPr id="78" name="Shape 57">
            <a:extLst>
              <a:ext uri="{FF2B5EF4-FFF2-40B4-BE49-F238E27FC236}">
                <a16:creationId xmlns:a16="http://schemas.microsoft.com/office/drawing/2014/main" id="{F8EEEF20-DC65-95DB-AE8B-A2016C3F3A7E}"/>
              </a:ext>
            </a:extLst>
          </p:cNvPr>
          <p:cNvSpPr/>
          <p:nvPr/>
        </p:nvSpPr>
        <p:spPr>
          <a:xfrm>
            <a:off x="8336746" y="1807170"/>
            <a:ext cx="348249" cy="348258"/>
          </a:xfrm>
          <a:prstGeom prst="roundRect">
            <a:avLst>
              <a:gd name="adj" fmla="val 6667"/>
            </a:avLst>
          </a:prstGeom>
          <a:solidFill>
            <a:srgbClr val="E4E5E5"/>
          </a:solidFill>
          <a:ln/>
        </p:spPr>
      </p:sp>
      <p:sp>
        <p:nvSpPr>
          <p:cNvPr id="79" name="Text 58">
            <a:extLst>
              <a:ext uri="{FF2B5EF4-FFF2-40B4-BE49-F238E27FC236}">
                <a16:creationId xmlns:a16="http://schemas.microsoft.com/office/drawing/2014/main" id="{70CC0075-A541-DFDF-0E6F-538FE78566C9}"/>
              </a:ext>
            </a:extLst>
          </p:cNvPr>
          <p:cNvSpPr/>
          <p:nvPr/>
        </p:nvSpPr>
        <p:spPr>
          <a:xfrm>
            <a:off x="8838403" y="1807170"/>
            <a:ext cx="2771706" cy="545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4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гибридный baseline сильнее всех, потому что почти везде использует рынок</a:t>
            </a:r>
            <a:endParaRPr lang="en-US" sz="1400" dirty="0"/>
          </a:p>
        </p:txBody>
      </p:sp>
      <p:sp>
        <p:nvSpPr>
          <p:cNvPr id="80" name="Shape 59">
            <a:extLst>
              <a:ext uri="{FF2B5EF4-FFF2-40B4-BE49-F238E27FC236}">
                <a16:creationId xmlns:a16="http://schemas.microsoft.com/office/drawing/2014/main" id="{D30C4A66-42FF-EC41-62D8-E2ECCB8B07B6}"/>
              </a:ext>
            </a:extLst>
          </p:cNvPr>
          <p:cNvSpPr/>
          <p:nvPr/>
        </p:nvSpPr>
        <p:spPr>
          <a:xfrm>
            <a:off x="8336746" y="2623641"/>
            <a:ext cx="348249" cy="348258"/>
          </a:xfrm>
          <a:prstGeom prst="roundRect">
            <a:avLst>
              <a:gd name="adj" fmla="val 6667"/>
            </a:avLst>
          </a:prstGeom>
          <a:solidFill>
            <a:srgbClr val="E4E5E5"/>
          </a:solidFill>
          <a:ln/>
        </p:spPr>
      </p:sp>
      <p:sp>
        <p:nvSpPr>
          <p:cNvPr id="81" name="Text 60">
            <a:extLst>
              <a:ext uri="{FF2B5EF4-FFF2-40B4-BE49-F238E27FC236}">
                <a16:creationId xmlns:a16="http://schemas.microsoft.com/office/drawing/2014/main" id="{22C41A80-CBE5-7ACC-257B-F495F5FED1F0}"/>
              </a:ext>
            </a:extLst>
          </p:cNvPr>
          <p:cNvSpPr/>
          <p:nvPr/>
        </p:nvSpPr>
        <p:spPr>
          <a:xfrm>
            <a:off x="8824295" y="2619376"/>
            <a:ext cx="2771706" cy="66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4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text-only ветка baseline намного слабее рынка</a:t>
            </a:r>
            <a:endParaRPr lang="en-US" sz="1400" dirty="0"/>
          </a:p>
        </p:txBody>
      </p:sp>
      <p:sp>
        <p:nvSpPr>
          <p:cNvPr id="82" name="Shape 61">
            <a:extLst>
              <a:ext uri="{FF2B5EF4-FFF2-40B4-BE49-F238E27FC236}">
                <a16:creationId xmlns:a16="http://schemas.microsoft.com/office/drawing/2014/main" id="{0AEF3314-0E86-FDC1-BBDA-B25B45B66224}"/>
              </a:ext>
            </a:extLst>
          </p:cNvPr>
          <p:cNvSpPr/>
          <p:nvPr/>
        </p:nvSpPr>
        <p:spPr>
          <a:xfrm>
            <a:off x="8336746" y="3293070"/>
            <a:ext cx="348249" cy="348258"/>
          </a:xfrm>
          <a:prstGeom prst="roundRect">
            <a:avLst>
              <a:gd name="adj" fmla="val 6667"/>
            </a:avLst>
          </a:prstGeom>
          <a:solidFill>
            <a:srgbClr val="E4E5E5"/>
          </a:solidFill>
          <a:ln/>
        </p:spPr>
      </p:sp>
      <p:sp>
        <p:nvSpPr>
          <p:cNvPr id="84" name="Shape 63">
            <a:extLst>
              <a:ext uri="{FF2B5EF4-FFF2-40B4-BE49-F238E27FC236}">
                <a16:creationId xmlns:a16="http://schemas.microsoft.com/office/drawing/2014/main" id="{4BA614B8-9C8C-9749-E3B4-D0AEA2954582}"/>
              </a:ext>
            </a:extLst>
          </p:cNvPr>
          <p:cNvSpPr/>
          <p:nvPr/>
        </p:nvSpPr>
        <p:spPr>
          <a:xfrm>
            <a:off x="8336746" y="3962499"/>
            <a:ext cx="348249" cy="348258"/>
          </a:xfrm>
          <a:prstGeom prst="roundRect">
            <a:avLst>
              <a:gd name="adj" fmla="val 6667"/>
            </a:avLst>
          </a:prstGeom>
          <a:solidFill>
            <a:srgbClr val="E4E5E5"/>
          </a:solidFill>
          <a:ln/>
        </p:spPr>
      </p:sp>
      <p:sp>
        <p:nvSpPr>
          <p:cNvPr id="85" name="Text 64">
            <a:extLst>
              <a:ext uri="{FF2B5EF4-FFF2-40B4-BE49-F238E27FC236}">
                <a16:creationId xmlns:a16="http://schemas.microsoft.com/office/drawing/2014/main" id="{2E89D72E-7D9B-2623-2421-40C3DB9A0CC7}"/>
              </a:ext>
            </a:extLst>
          </p:cNvPr>
          <p:cNvSpPr/>
          <p:nvPr/>
        </p:nvSpPr>
        <p:spPr>
          <a:xfrm>
            <a:off x="8824295" y="3287074"/>
            <a:ext cx="2771706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4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калибровка дала большой выигрыш по Brier</a:t>
            </a:r>
            <a:endParaRPr lang="en-US" sz="1400" dirty="0"/>
          </a:p>
        </p:txBody>
      </p:sp>
      <p:sp>
        <p:nvSpPr>
          <p:cNvPr id="87" name="Text 66">
            <a:extLst>
              <a:ext uri="{FF2B5EF4-FFF2-40B4-BE49-F238E27FC236}">
                <a16:creationId xmlns:a16="http://schemas.microsoft.com/office/drawing/2014/main" id="{833A931C-4284-7B86-D678-4965CC0B652F}"/>
              </a:ext>
            </a:extLst>
          </p:cNvPr>
          <p:cNvSpPr/>
          <p:nvPr/>
        </p:nvSpPr>
        <p:spPr>
          <a:xfrm>
            <a:off x="8824295" y="3962499"/>
            <a:ext cx="2771706" cy="8232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4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итоговая news-only модель даёт полезный сигнал даже без входной рыночной вероятности</a:t>
            </a:r>
            <a:endParaRPr lang="en-US" sz="1400" dirty="0"/>
          </a:p>
        </p:txBody>
      </p:sp>
      <p:graphicFrame>
        <p:nvGraphicFramePr>
          <p:cNvPr id="91" name="Таблица 90">
            <a:extLst>
              <a:ext uri="{FF2B5EF4-FFF2-40B4-BE49-F238E27FC236}">
                <a16:creationId xmlns:a16="http://schemas.microsoft.com/office/drawing/2014/main" id="{5351711D-C776-D199-ABF8-7227380B57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5948034"/>
              </p:ext>
            </p:extLst>
          </p:nvPr>
        </p:nvGraphicFramePr>
        <p:xfrm>
          <a:off x="581891" y="1362143"/>
          <a:ext cx="7005998" cy="3657531"/>
        </p:xfrm>
        <a:graphic>
          <a:graphicData uri="http://schemas.openxmlformats.org/drawingml/2006/table">
            <a:tbl>
              <a:tblPr/>
              <a:tblGrid>
                <a:gridCol w="1179423">
                  <a:extLst>
                    <a:ext uri="{9D8B030D-6E8A-4147-A177-3AD203B41FA5}">
                      <a16:colId xmlns:a16="http://schemas.microsoft.com/office/drawing/2014/main" val="2120042912"/>
                    </a:ext>
                  </a:extLst>
                </a:gridCol>
                <a:gridCol w="1165315">
                  <a:extLst>
                    <a:ext uri="{9D8B030D-6E8A-4147-A177-3AD203B41FA5}">
                      <a16:colId xmlns:a16="http://schemas.microsoft.com/office/drawing/2014/main" val="3654427777"/>
                    </a:ext>
                  </a:extLst>
                </a:gridCol>
                <a:gridCol w="1165315">
                  <a:extLst>
                    <a:ext uri="{9D8B030D-6E8A-4147-A177-3AD203B41FA5}">
                      <a16:colId xmlns:a16="http://schemas.microsoft.com/office/drawing/2014/main" val="1153857963"/>
                    </a:ext>
                  </a:extLst>
                </a:gridCol>
                <a:gridCol w="1165315">
                  <a:extLst>
                    <a:ext uri="{9D8B030D-6E8A-4147-A177-3AD203B41FA5}">
                      <a16:colId xmlns:a16="http://schemas.microsoft.com/office/drawing/2014/main" val="1886762417"/>
                    </a:ext>
                  </a:extLst>
                </a:gridCol>
                <a:gridCol w="1165315">
                  <a:extLst>
                    <a:ext uri="{9D8B030D-6E8A-4147-A177-3AD203B41FA5}">
                      <a16:colId xmlns:a16="http://schemas.microsoft.com/office/drawing/2014/main" val="1797578950"/>
                    </a:ext>
                  </a:extLst>
                </a:gridCol>
                <a:gridCol w="1165315">
                  <a:extLst>
                    <a:ext uri="{9D8B030D-6E8A-4147-A177-3AD203B41FA5}">
                      <a16:colId xmlns:a16="http://schemas.microsoft.com/office/drawing/2014/main" val="3909158847"/>
                    </a:ext>
                  </a:extLst>
                </a:gridCol>
              </a:tblGrid>
              <a:tr h="3562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/>
                        <a:t>Подход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Valid Brier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Test Brier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Valid AUC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Test AUC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Комментарий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3720462"/>
                  </a:ext>
                </a:extLst>
              </a:tr>
              <a:tr h="8923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/>
                        <a:t>Hybrid </a:t>
                      </a:r>
                      <a:r>
                        <a:rPr lang="ru-RU" sz="1200" dirty="0" err="1"/>
                        <a:t>baseline</a:t>
                      </a:r>
                      <a:endParaRPr lang="ru-RU" sz="1200" dirty="0"/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/>
                        <a:t>0.06030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/>
                        <a:t>0.07730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—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—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/>
                        <a:t>рынок как основной сигнал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3216652"/>
                  </a:ext>
                </a:extLst>
              </a:tr>
              <a:tr h="8923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Text-only branch of baseline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0.14675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/>
                        <a:t>0.14537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/>
                        <a:t>—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—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/>
                        <a:t>чисто текстовая ветка внутри </a:t>
                      </a:r>
                      <a:r>
                        <a:rPr lang="ru-RU" sz="1200" dirty="0" err="1"/>
                        <a:t>baseline</a:t>
                      </a:r>
                      <a:endParaRPr lang="ru-RU" sz="1200" dirty="0"/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0181375"/>
                  </a:ext>
                </a:extLst>
              </a:tr>
              <a:tr h="6242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News-only SFT (raw)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0.1744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/>
                        <a:t>0.1801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/>
                        <a:t>—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/>
                        <a:t>—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/>
                        <a:t>без калибровки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0171055"/>
                  </a:ext>
                </a:extLst>
              </a:tr>
              <a:tr h="8923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1"/>
                        <a:t>News-only SFT (calibrated)</a:t>
                      </a:r>
                      <a:endParaRPr lang="ru-RU" sz="1200"/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1"/>
                        <a:t>0.1230</a:t>
                      </a:r>
                      <a:endParaRPr lang="ru-RU" sz="1200"/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1"/>
                        <a:t>0.1416</a:t>
                      </a:r>
                      <a:endParaRPr lang="ru-RU" sz="1200"/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1" dirty="0"/>
                        <a:t>0.7457</a:t>
                      </a:r>
                      <a:endParaRPr lang="ru-RU" sz="1200" dirty="0"/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1" dirty="0"/>
                        <a:t>0.7764</a:t>
                      </a:r>
                      <a:endParaRPr lang="ru-RU" sz="1200" dirty="0"/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1" dirty="0"/>
                        <a:t>основной итоговый результат</a:t>
                      </a:r>
                      <a:endParaRPr lang="ru-RU" sz="1200" dirty="0"/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0336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8578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6A9CF-982E-9E77-09BE-9420EEEF5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4E573CC4-F3C2-CFA5-502F-7FE215BA7616}"/>
              </a:ext>
            </a:extLst>
          </p:cNvPr>
          <p:cNvSpPr/>
          <p:nvPr/>
        </p:nvSpPr>
        <p:spPr>
          <a:xfrm>
            <a:off x="514861" y="1262160"/>
            <a:ext cx="3613795" cy="5242421"/>
          </a:xfrm>
          <a:prstGeom prst="roundRect">
            <a:avLst>
              <a:gd name="adj" fmla="val 1191"/>
            </a:avLst>
          </a:prstGeom>
          <a:solidFill>
            <a:schemeClr val="tx2">
              <a:lumMod val="20000"/>
              <a:lumOff val="80000"/>
            </a:schemeClr>
          </a:solidFill>
          <a:ln/>
          <a:effectLst>
            <a:softEdge rad="127000"/>
          </a:effectLst>
        </p:spPr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4A3EE1A-8C6D-77B4-6843-40E8C6E7BF11}"/>
              </a:ext>
            </a:extLst>
          </p:cNvPr>
          <p:cNvSpPr/>
          <p:nvPr/>
        </p:nvSpPr>
        <p:spPr>
          <a:xfrm>
            <a:off x="722294" y="1425312"/>
            <a:ext cx="361147" cy="361156"/>
          </a:xfrm>
          <a:prstGeom prst="roundRect">
            <a:avLst>
              <a:gd name="adj" fmla="val 21096804"/>
            </a:avLst>
          </a:prstGeom>
          <a:solidFill>
            <a:srgbClr val="E4E5E5"/>
          </a:solidFill>
          <a:ln/>
        </p:spPr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EC431211-934C-5924-7F2D-6D6CD0CA00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1610" y="1524630"/>
            <a:ext cx="162516" cy="162520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F69E6FDE-11FF-9A00-A4C3-10D63FABB9CF}"/>
              </a:ext>
            </a:extLst>
          </p:cNvPr>
          <p:cNvSpPr/>
          <p:nvPr/>
        </p:nvSpPr>
        <p:spPr>
          <a:xfrm>
            <a:off x="1238757" y="1524000"/>
            <a:ext cx="1550353" cy="15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Что удалось получить</a:t>
            </a:r>
            <a:endParaRPr lang="en-US" sz="160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D5596CDA-6F61-5F88-8CDA-F01A576F1287}"/>
              </a:ext>
            </a:extLst>
          </p:cNvPr>
          <p:cNvSpPr/>
          <p:nvPr/>
        </p:nvSpPr>
        <p:spPr>
          <a:xfrm>
            <a:off x="722294" y="1809253"/>
            <a:ext cx="3240000" cy="2684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построен полный pipeline для </a:t>
            </a:r>
            <a:r>
              <a:rPr lang="en-US" sz="1200" dirty="0" err="1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прогнозирования</a:t>
            </a:r>
            <a:r>
              <a:rPr lang="en-US" sz="12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</a:p>
          <a:p>
            <a:pPr algn="l">
              <a:lnSpc>
                <a:spcPct val="120000"/>
              </a:lnSpc>
              <a:buSzPct val="100000"/>
            </a:pPr>
            <a:r>
              <a:rPr lang="en-US" sz="12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      в </a:t>
            </a:r>
            <a:r>
              <a:rPr lang="en-US" sz="1200" dirty="0" err="1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домене</a:t>
            </a:r>
            <a:r>
              <a:rPr lang="en-US" sz="12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200" dirty="0" err="1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поп-культуры</a:t>
            </a:r>
            <a:endParaRPr lang="en-US" sz="1200" dirty="0">
              <a:solidFill>
                <a:srgbClr val="4D4D4D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endParaRPr lang="en-US" sz="120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собраны и очищены real markets </a:t>
            </a:r>
            <a:r>
              <a:rPr lang="en-US" sz="1200" dirty="0" err="1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из</a:t>
            </a:r>
            <a:r>
              <a:rPr lang="en-US" sz="12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200" dirty="0" err="1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Polymarket</a:t>
            </a:r>
            <a:endParaRPr lang="en-US" sz="1200" dirty="0">
              <a:solidFill>
                <a:srgbClr val="4D4D4D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endParaRPr lang="en-US" sz="120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добавлено synthetic expansion для </a:t>
            </a:r>
            <a:r>
              <a:rPr lang="en-US" sz="1200" dirty="0" err="1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слабых</a:t>
            </a:r>
            <a:r>
              <a:rPr lang="en-US" sz="12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200" dirty="0" err="1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поддоменов</a:t>
            </a:r>
            <a:endParaRPr lang="en-US" sz="1200" dirty="0">
              <a:solidFill>
                <a:srgbClr val="4D4D4D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endParaRPr lang="en-US" sz="120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подобран news context с </a:t>
            </a:r>
            <a:r>
              <a:rPr lang="en-US" sz="1200" dirty="0" err="1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временной</a:t>
            </a:r>
            <a:r>
              <a:rPr lang="en-US" sz="12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200" dirty="0" err="1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корректностью</a:t>
            </a:r>
            <a:endParaRPr lang="en-US" sz="1200" dirty="0">
              <a:solidFill>
                <a:srgbClr val="4D4D4D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endParaRPr lang="en-US" sz="120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обучена честная news-only модель без входной рыночной вероятности</a:t>
            </a:r>
            <a:endParaRPr lang="en-US" sz="1200" dirty="0"/>
          </a:p>
        </p:txBody>
      </p:sp>
      <p:sp>
        <p:nvSpPr>
          <p:cNvPr id="31" name="Text 0">
            <a:extLst>
              <a:ext uri="{FF2B5EF4-FFF2-40B4-BE49-F238E27FC236}">
                <a16:creationId xmlns:a16="http://schemas.microsoft.com/office/drawing/2014/main" id="{D1FDCC0E-8412-FD85-B3DC-B6152CE2EFE5}"/>
              </a:ext>
            </a:extLst>
          </p:cNvPr>
          <p:cNvSpPr/>
          <p:nvPr/>
        </p:nvSpPr>
        <p:spPr>
          <a:xfrm>
            <a:off x="601945" y="573088"/>
            <a:ext cx="5699280" cy="300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200" dirty="0">
                <a:solidFill>
                  <a:schemeClr val="accent1"/>
                </a:solidFill>
                <a:latin typeface="Times New Roman" panose="02020603050405020304" pitchFamily="18" charset="0"/>
                <a:ea typeface="Spectral SemiBold" pitchFamily="34" charset="-122"/>
                <a:cs typeface="Times New Roman" panose="02020603050405020304" pitchFamily="18" charset="0"/>
              </a:rPr>
              <a:t>Результаты, ограничения и выводы</a:t>
            </a:r>
            <a:endParaRPr lang="en-US" sz="32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1">
            <a:extLst>
              <a:ext uri="{FF2B5EF4-FFF2-40B4-BE49-F238E27FC236}">
                <a16:creationId xmlns:a16="http://schemas.microsoft.com/office/drawing/2014/main" id="{4D12AF4E-3BAB-AE28-B911-4BC1031B613B}"/>
              </a:ext>
            </a:extLst>
          </p:cNvPr>
          <p:cNvSpPr/>
          <p:nvPr/>
        </p:nvSpPr>
        <p:spPr>
          <a:xfrm>
            <a:off x="8063345" y="1262161"/>
            <a:ext cx="3771959" cy="5242421"/>
          </a:xfrm>
          <a:prstGeom prst="roundRect">
            <a:avLst>
              <a:gd name="adj" fmla="val 1191"/>
            </a:avLst>
          </a:prstGeom>
          <a:solidFill>
            <a:schemeClr val="tx2">
              <a:lumMod val="20000"/>
              <a:lumOff val="80000"/>
            </a:schemeClr>
          </a:solidFill>
          <a:ln/>
          <a:effectLst>
            <a:softEdge rad="127000"/>
          </a:effectLst>
        </p:spPr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99684BF-97A3-29D1-A198-FD3C3D6D90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377" y="4261100"/>
            <a:ext cx="2625573" cy="2625573"/>
          </a:xfrm>
          <a:prstGeom prst="rect">
            <a:avLst/>
          </a:prstGeom>
        </p:spPr>
      </p:pic>
      <p:sp>
        <p:nvSpPr>
          <p:cNvPr id="33" name="Shape 6">
            <a:extLst>
              <a:ext uri="{FF2B5EF4-FFF2-40B4-BE49-F238E27FC236}">
                <a16:creationId xmlns:a16="http://schemas.microsoft.com/office/drawing/2014/main" id="{DB3945BB-1E86-C1B6-A5CD-BB9670D22B91}"/>
              </a:ext>
            </a:extLst>
          </p:cNvPr>
          <p:cNvSpPr/>
          <p:nvPr/>
        </p:nvSpPr>
        <p:spPr>
          <a:xfrm>
            <a:off x="4233515" y="1425312"/>
            <a:ext cx="361147" cy="361156"/>
          </a:xfrm>
          <a:prstGeom prst="roundRect">
            <a:avLst>
              <a:gd name="adj" fmla="val 21096804"/>
            </a:avLst>
          </a:prstGeom>
          <a:solidFill>
            <a:srgbClr val="E4E5E5"/>
          </a:solidFill>
          <a:ln/>
        </p:spPr>
      </p:sp>
      <p:pic>
        <p:nvPicPr>
          <p:cNvPr id="34" name="Image 1" descr="preencoded.png">
            <a:extLst>
              <a:ext uri="{FF2B5EF4-FFF2-40B4-BE49-F238E27FC236}">
                <a16:creationId xmlns:a16="http://schemas.microsoft.com/office/drawing/2014/main" id="{992761E8-AF7F-DCB7-B0F1-A2C787B2B2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2831" y="1524630"/>
            <a:ext cx="162516" cy="162520"/>
          </a:xfrm>
          <a:prstGeom prst="rect">
            <a:avLst/>
          </a:prstGeom>
        </p:spPr>
      </p:pic>
      <p:sp>
        <p:nvSpPr>
          <p:cNvPr id="35" name="Text 7">
            <a:extLst>
              <a:ext uri="{FF2B5EF4-FFF2-40B4-BE49-F238E27FC236}">
                <a16:creationId xmlns:a16="http://schemas.microsoft.com/office/drawing/2014/main" id="{D09339DD-9B24-B84B-E594-AD556C30A28E}"/>
              </a:ext>
            </a:extLst>
          </p:cNvPr>
          <p:cNvSpPr/>
          <p:nvPr/>
        </p:nvSpPr>
        <p:spPr>
          <a:xfrm>
            <a:off x="4746900" y="1533064"/>
            <a:ext cx="1582103" cy="15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Ограничения проекта</a:t>
            </a:r>
            <a:endParaRPr lang="en-US" sz="1600" dirty="0"/>
          </a:p>
        </p:txBody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2C583D4A-9146-D1B7-850E-8BD1A9C0708D}"/>
              </a:ext>
            </a:extLst>
          </p:cNvPr>
          <p:cNvSpPr/>
          <p:nvPr/>
        </p:nvSpPr>
        <p:spPr>
          <a:xfrm>
            <a:off x="4476000" y="1815106"/>
            <a:ext cx="3240000" cy="2695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компактная модель и ограниченный </a:t>
            </a:r>
            <a:r>
              <a:rPr lang="en-US" sz="1200" dirty="0" err="1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вычислительный</a:t>
            </a:r>
            <a:r>
              <a:rPr lang="en-US" sz="12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200" dirty="0" err="1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бюджет</a:t>
            </a:r>
            <a:endParaRPr lang="en-US" sz="1200" dirty="0">
              <a:solidFill>
                <a:srgbClr val="4D4D4D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342900" indent="-342900" algn="l">
              <a:buSzPct val="100000"/>
              <a:buChar char="•"/>
            </a:pP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шумный и неоднородный </a:t>
            </a:r>
            <a:r>
              <a:rPr lang="en-US" sz="1200" dirty="0" err="1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новостной</a:t>
            </a:r>
            <a:r>
              <a:rPr lang="en-US" sz="12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200" dirty="0" err="1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контекст</a:t>
            </a:r>
            <a:endParaRPr lang="en-US" sz="1200" dirty="0">
              <a:solidFill>
                <a:srgbClr val="4D4D4D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342900" indent="-342900" algn="l">
              <a:buSzPct val="100000"/>
              <a:buChar char="•"/>
            </a:pP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ограниченный объём качественных данных по </a:t>
            </a:r>
            <a:r>
              <a:rPr lang="en-US" sz="1200" dirty="0" err="1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отдельным</a:t>
            </a:r>
            <a:r>
              <a:rPr lang="en-US" sz="12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200" dirty="0" err="1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поддоменам</a:t>
            </a:r>
            <a:endParaRPr lang="en-US" sz="1200" dirty="0">
              <a:solidFill>
                <a:srgbClr val="4D4D4D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342900" indent="-342900" algn="l">
              <a:buSzPct val="100000"/>
              <a:buChar char="•"/>
            </a:pP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RLVR/ReMax оказался слишком хрупким на этом </a:t>
            </a:r>
            <a:r>
              <a:rPr lang="en-US" sz="1200" dirty="0" err="1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наборе</a:t>
            </a:r>
            <a:r>
              <a:rPr lang="en-US" sz="12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200" dirty="0" err="1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данных</a:t>
            </a:r>
            <a:endParaRPr lang="en-US" sz="1200" dirty="0">
              <a:solidFill>
                <a:srgbClr val="4D4D4D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342900" indent="-342900" algn="l">
              <a:buSzPct val="100000"/>
              <a:buChar char="•"/>
            </a:pPr>
            <a:endParaRPr lang="en-US" sz="1200" dirty="0"/>
          </a:p>
        </p:txBody>
      </p:sp>
      <p:sp>
        <p:nvSpPr>
          <p:cNvPr id="37" name="Shape 10">
            <a:extLst>
              <a:ext uri="{FF2B5EF4-FFF2-40B4-BE49-F238E27FC236}">
                <a16:creationId xmlns:a16="http://schemas.microsoft.com/office/drawing/2014/main" id="{56AD3450-79C1-E9C8-A3A3-AFF2B5E28650}"/>
              </a:ext>
            </a:extLst>
          </p:cNvPr>
          <p:cNvSpPr/>
          <p:nvPr/>
        </p:nvSpPr>
        <p:spPr>
          <a:xfrm>
            <a:off x="8249462" y="1425312"/>
            <a:ext cx="361147" cy="361156"/>
          </a:xfrm>
          <a:prstGeom prst="roundRect">
            <a:avLst>
              <a:gd name="adj" fmla="val 21096804"/>
            </a:avLst>
          </a:prstGeom>
          <a:solidFill>
            <a:srgbClr val="E4E5E5"/>
          </a:solidFill>
          <a:ln/>
        </p:spPr>
      </p:sp>
      <p:pic>
        <p:nvPicPr>
          <p:cNvPr id="38" name="Image 2" descr="preencoded.png">
            <a:extLst>
              <a:ext uri="{FF2B5EF4-FFF2-40B4-BE49-F238E27FC236}">
                <a16:creationId xmlns:a16="http://schemas.microsoft.com/office/drawing/2014/main" id="{2328EC57-781F-A71A-503F-78CA3DB316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48778" y="1524630"/>
            <a:ext cx="162516" cy="162520"/>
          </a:xfrm>
          <a:prstGeom prst="rect">
            <a:avLst/>
          </a:prstGeom>
        </p:spPr>
      </p:pic>
      <p:sp>
        <p:nvSpPr>
          <p:cNvPr id="39" name="Text 11">
            <a:extLst>
              <a:ext uri="{FF2B5EF4-FFF2-40B4-BE49-F238E27FC236}">
                <a16:creationId xmlns:a16="http://schemas.microsoft.com/office/drawing/2014/main" id="{69D68FCE-AFF8-8FCC-0C3F-569E07003DD0}"/>
              </a:ext>
            </a:extLst>
          </p:cNvPr>
          <p:cNvSpPr/>
          <p:nvPr/>
        </p:nvSpPr>
        <p:spPr>
          <a:xfrm>
            <a:off x="8758879" y="1533064"/>
            <a:ext cx="1504813" cy="15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D4D4D"/>
                </a:solidFill>
                <a:latin typeface="Spectral SemiBold" pitchFamily="34" charset="0"/>
                <a:ea typeface="Spectral SemiBold" pitchFamily="34" charset="-122"/>
                <a:cs typeface="Spectral SemiBold" pitchFamily="34" charset="-120"/>
              </a:rPr>
              <a:t>Главные выводы</a:t>
            </a:r>
            <a:endParaRPr lang="en-US" sz="1600" dirty="0"/>
          </a:p>
        </p:txBody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F89A29DC-3D1F-9319-6C4C-28BEE2273F47}"/>
              </a:ext>
            </a:extLst>
          </p:cNvPr>
          <p:cNvSpPr/>
          <p:nvPr/>
        </p:nvSpPr>
        <p:spPr>
          <a:xfrm>
            <a:off x="8348778" y="1809253"/>
            <a:ext cx="3240000" cy="335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50000"/>
              </a:lnSpc>
              <a:buSzPct val="100000"/>
            </a:pPr>
            <a:r>
              <a:rPr lang="ru-RU" sz="12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</a:t>
            </a:r>
            <a:r>
              <a:rPr lang="en-US" sz="1200" dirty="0" err="1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ыночная</a:t>
            </a:r>
            <a:r>
              <a:rPr lang="en-US" sz="12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вероятность остаётся очень сильным </a:t>
            </a:r>
            <a:r>
              <a:rPr lang="en-US" sz="1200" dirty="0" err="1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внешним</a:t>
            </a:r>
            <a:r>
              <a:rPr lang="en-US" sz="12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200" dirty="0" err="1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сигналом</a:t>
            </a:r>
            <a:r>
              <a:rPr lang="en-US" sz="1200" dirty="0"/>
              <a:t>, </a:t>
            </a:r>
            <a:endParaRPr lang="ru-RU" sz="1200" dirty="0"/>
          </a:p>
          <a:p>
            <a:pPr algn="l">
              <a:lnSpc>
                <a:spcPct val="150000"/>
              </a:lnSpc>
              <a:buSzPct val="100000"/>
            </a:pPr>
            <a:r>
              <a:rPr lang="en-US" sz="1200" dirty="0" err="1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но</a:t>
            </a:r>
            <a:r>
              <a:rPr lang="en-US" sz="12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news-only модель тоже извлекает полезную прогностическую информацию </a:t>
            </a:r>
            <a:r>
              <a:rPr lang="en-US" sz="1200" dirty="0" err="1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из</a:t>
            </a:r>
            <a:r>
              <a:rPr lang="en-US" sz="12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200" dirty="0" err="1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текста</a:t>
            </a:r>
            <a:r>
              <a:rPr lang="en-US" sz="12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</a:t>
            </a:r>
            <a:endParaRPr lang="ru-RU" sz="1200" dirty="0">
              <a:solidFill>
                <a:srgbClr val="4D4D4D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algn="l">
              <a:lnSpc>
                <a:spcPct val="150000"/>
              </a:lnSpc>
              <a:buSzPct val="100000"/>
            </a:pPr>
            <a:r>
              <a:rPr lang="ru-RU" sz="12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Н</a:t>
            </a:r>
            <a:r>
              <a:rPr lang="en-US" sz="12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а этом проекте SFT оказался практичнее и устойчивее, чем </a:t>
            </a:r>
            <a:r>
              <a:rPr lang="en-US" sz="1200" dirty="0" err="1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прямой</a:t>
            </a:r>
            <a:r>
              <a:rPr lang="en-US" sz="12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RLVR</a:t>
            </a:r>
            <a:r>
              <a:rPr lang="ru-RU" sz="12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200" dirty="0"/>
          </a:p>
          <a:p>
            <a:pPr algn="l">
              <a:lnSpc>
                <a:spcPct val="150000"/>
              </a:lnSpc>
              <a:buSzPct val="100000"/>
            </a:pPr>
            <a:r>
              <a:rPr lang="ru-RU" sz="12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</a:t>
            </a:r>
            <a:r>
              <a:rPr lang="en-US" sz="1200" dirty="0" err="1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равильная</a:t>
            </a:r>
            <a:r>
              <a:rPr lang="en-US" sz="12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стратегия: сначала сильный news-only baseline, </a:t>
            </a:r>
            <a:r>
              <a:rPr lang="en-US" sz="1200" dirty="0" err="1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затем</a:t>
            </a:r>
            <a:r>
              <a:rPr lang="en-US" sz="12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RLVR</a:t>
            </a:r>
            <a:r>
              <a:rPr lang="ru-RU" sz="12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200" dirty="0"/>
          </a:p>
          <a:p>
            <a:pPr algn="l">
              <a:lnSpc>
                <a:spcPct val="150000"/>
              </a:lnSpc>
              <a:buSzPct val="100000"/>
            </a:pPr>
            <a:r>
              <a:rPr lang="ru-RU" sz="12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</a:t>
            </a:r>
            <a:r>
              <a:rPr lang="en-US" sz="1200" dirty="0" err="1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роект</a:t>
            </a:r>
            <a:r>
              <a:rPr lang="en-US" sz="1200" dirty="0">
                <a:solidFill>
                  <a:srgbClr val="4D4D4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подтвердил, что доменная адаптация под pop culture имеет смысл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804562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BE13806-2F6F-4C87-AF3C-28459D4356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19393" y="1569515"/>
            <a:ext cx="7810760" cy="2850086"/>
          </a:xfrm>
        </p:spPr>
        <p:txBody>
          <a:bodyPr>
            <a:noAutofit/>
          </a:bodyPr>
          <a:lstStyle/>
          <a:p>
            <a:r>
              <a:rPr lang="ru-RU" sz="6600" dirty="0"/>
              <a:t>Спасибо за внимание!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0523EAD-0529-DDAF-A287-93F39F39F6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045" y="0"/>
            <a:ext cx="58829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302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иний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1085</TotalTime>
  <Words>1494</Words>
  <Application>Microsoft Office PowerPoint</Application>
  <PresentationFormat>Широкоэкранный</PresentationFormat>
  <Paragraphs>232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4" baseType="lpstr">
      <vt:lpstr>Arial</vt:lpstr>
      <vt:lpstr>Calibri</vt:lpstr>
      <vt:lpstr>Calibri Light</vt:lpstr>
      <vt:lpstr>DM Sans</vt:lpstr>
      <vt:lpstr>DM Sans Medium</vt:lpstr>
      <vt:lpstr>Source Sans 3</vt:lpstr>
      <vt:lpstr>Spectral SemiBold</vt:lpstr>
      <vt:lpstr>Times New Roman</vt:lpstr>
      <vt:lpstr>Тема Office</vt:lpstr>
      <vt:lpstr>Вероятностное прогнозирование  в домене поп-культуры</vt:lpstr>
      <vt:lpstr>Презентация PowerPoint</vt:lpstr>
      <vt:lpstr>Постановка задачи</vt:lpstr>
      <vt:lpstr>Презентация PowerPoint</vt:lpstr>
      <vt:lpstr>Презентация PowerPoint</vt:lpstr>
      <vt:lpstr>Сбор данных из Polymarket</vt:lpstr>
      <vt:lpstr>Презентация PowerPoint</vt:lpstr>
      <vt:lpstr>Презентация PowerPoint</vt:lpstr>
      <vt:lpstr>Презентация PowerPoint</vt:lpstr>
      <vt:lpstr>Baseline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Голубой абстрактный - шаблон презентации с сайта presentation-creation.ru</dc:title>
  <dc:creator>User Obstinate</dc:creator>
  <cp:lastModifiedBy>Ксения</cp:lastModifiedBy>
  <cp:revision>40</cp:revision>
  <dcterms:created xsi:type="dcterms:W3CDTF">2025-04-04T15:20:50Z</dcterms:created>
  <dcterms:modified xsi:type="dcterms:W3CDTF">2026-06-10T22:20:13Z</dcterms:modified>
</cp:coreProperties>
</file>